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41d24284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41d24284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3af1e755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3af1e755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3e49c6a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3e49c6a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3cab52576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3cab5257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73a04f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73a04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3cab52576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3cab525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c6f73a04f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c6f73a04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3cab52576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3cab5257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c6f73a04f_0_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c6f73a04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c6f73a04f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c6f73a04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41d242849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41d242849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41d242849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41d242849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41d242849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41d24284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c6f73a04f_0_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c6f73a04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hyperlink" Target="http://drive.google.com/file/d/14AeveUFJs-8nrMdQYPOTOqd5uYhLeUD4/view" TargetMode="External"/><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Log Aggregation, Analysis and Diagnostics Platform</a:t>
            </a:r>
            <a:endParaRPr/>
          </a:p>
        </p:txBody>
      </p:sp>
      <p:sp>
        <p:nvSpPr>
          <p:cNvPr id="55" name="Google Shape;55;p13"/>
          <p:cNvSpPr txBox="1"/>
          <p:nvPr>
            <p:ph idx="1" type="subTitle"/>
          </p:nvPr>
        </p:nvSpPr>
        <p:spPr>
          <a:xfrm>
            <a:off x="0" y="3109674"/>
            <a:ext cx="8222100" cy="378300"/>
          </a:xfrm>
          <a:prstGeom prst="rect">
            <a:avLst/>
          </a:prstGeom>
          <a:solidFill>
            <a:schemeClr val="accent3"/>
          </a:solidFill>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en" sz="1005">
                <a:solidFill>
                  <a:srgbClr val="000000"/>
                </a:solidFill>
              </a:rPr>
              <a:t>Team 1: Emmanuel Dairo, Ahmed Ikram, Sarah Kelly, Sam Watts, Martin Kelly, Addie Tweed, David Hyacinth-Ngwu </a:t>
            </a:r>
            <a:endParaRPr b="1" sz="1005">
              <a:solidFill>
                <a:srgbClr val="000000"/>
              </a:solidFill>
            </a:endParaRPr>
          </a:p>
          <a:p>
            <a:pPr indent="0" lvl="0" marL="0" rtl="0" algn="ctr">
              <a:lnSpc>
                <a:spcPct val="80000"/>
              </a:lnSpc>
              <a:spcBef>
                <a:spcPts val="0"/>
              </a:spcBef>
              <a:spcAft>
                <a:spcPts val="0"/>
              </a:spcAft>
              <a:buSzPts val="605"/>
              <a:buNone/>
            </a:pPr>
            <a:r>
              <a:t/>
            </a:r>
            <a:endParaRPr sz="13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a:t>
            </a:r>
            <a:endParaRPr/>
          </a:p>
        </p:txBody>
      </p:sp>
      <p:sp>
        <p:nvSpPr>
          <p:cNvPr id="61" name="Google Shape;61;p14"/>
          <p:cNvSpPr txBox="1"/>
          <p:nvPr>
            <p:ph idx="1" type="body"/>
          </p:nvPr>
        </p:nvSpPr>
        <p:spPr>
          <a:xfrm>
            <a:off x="311700" y="12409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Need to…</a:t>
            </a:r>
            <a:endParaRPr/>
          </a:p>
          <a:p>
            <a:pPr indent="-342900" lvl="0" marL="457200" rtl="0" algn="l">
              <a:spcBef>
                <a:spcPts val="1200"/>
              </a:spcBef>
              <a:spcAft>
                <a:spcPts val="0"/>
              </a:spcAft>
              <a:buSzPts val="1800"/>
              <a:buChar char="-"/>
            </a:pPr>
            <a:r>
              <a:rPr lang="en"/>
              <a:t>Ingest different log sources across a network for ATMs into a homogenized form and aggregate them</a:t>
            </a:r>
            <a:endParaRPr/>
          </a:p>
          <a:p>
            <a:pPr indent="-342900" lvl="0" marL="457200" rtl="0" algn="l">
              <a:spcBef>
                <a:spcPts val="0"/>
              </a:spcBef>
              <a:spcAft>
                <a:spcPts val="0"/>
              </a:spcAft>
              <a:buSzPts val="1800"/>
              <a:buChar char="-"/>
            </a:pPr>
            <a:r>
              <a:rPr lang="en"/>
              <a:t>Assess logs for defined anomalies</a:t>
            </a:r>
            <a:endParaRPr/>
          </a:p>
          <a:p>
            <a:pPr indent="-342900" lvl="0" marL="457200" rtl="0" algn="l">
              <a:spcBef>
                <a:spcPts val="0"/>
              </a:spcBef>
              <a:spcAft>
                <a:spcPts val="0"/>
              </a:spcAft>
              <a:buSzPts val="1800"/>
              <a:buChar char="-"/>
            </a:pPr>
            <a:r>
              <a:rPr lang="en"/>
              <a:t>Analyse anomalies for patterns and correlations across different sources</a:t>
            </a:r>
            <a:endParaRPr/>
          </a:p>
          <a:p>
            <a:pPr indent="-342900" lvl="0" marL="457200" rtl="0" algn="l">
              <a:spcBef>
                <a:spcPts val="0"/>
              </a:spcBef>
              <a:spcAft>
                <a:spcPts val="0"/>
              </a:spcAft>
              <a:buSzPts val="1800"/>
              <a:buChar char="-"/>
            </a:pPr>
            <a:r>
              <a:rPr lang="en"/>
              <a:t>Visualise this information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ctrTitle"/>
          </p:nvPr>
        </p:nvSpPr>
        <p:spPr>
          <a:xfrm>
            <a:off x="-948400" y="206350"/>
            <a:ext cx="4920300" cy="840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2750"/>
              <a:t>Approach</a:t>
            </a:r>
            <a:endParaRPr/>
          </a:p>
        </p:txBody>
      </p:sp>
      <p:sp>
        <p:nvSpPr>
          <p:cNvPr id="67" name="Google Shape;67;p15"/>
          <p:cNvSpPr txBox="1"/>
          <p:nvPr>
            <p:ph idx="1" type="subTitle"/>
          </p:nvPr>
        </p:nvSpPr>
        <p:spPr>
          <a:xfrm>
            <a:off x="311700" y="1459050"/>
            <a:ext cx="8520600" cy="29919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sz="2300"/>
              <a:t>D</a:t>
            </a:r>
            <a:r>
              <a:rPr lang="en" sz="2300"/>
              <a:t>efined personas, user stories and requirements before allocating any development work.</a:t>
            </a:r>
            <a:endParaRPr sz="2300"/>
          </a:p>
          <a:p>
            <a:pPr indent="0" lvl="0" marL="0" rtl="0" algn="ctr">
              <a:spcBef>
                <a:spcPts val="0"/>
              </a:spcBef>
              <a:spcAft>
                <a:spcPts val="0"/>
              </a:spcAft>
              <a:buNone/>
            </a:pPr>
            <a:r>
              <a:rPr lang="en" sz="2300"/>
              <a:t>This helped us have a shared understanding of how we wanted the system to work.</a:t>
            </a:r>
            <a:endParaRPr sz="2300"/>
          </a:p>
          <a:p>
            <a:pPr indent="0" lvl="0" marL="0" rtl="0" algn="ctr">
              <a:spcBef>
                <a:spcPts val="0"/>
              </a:spcBef>
              <a:spcAft>
                <a:spcPts val="0"/>
              </a:spcAft>
              <a:buNone/>
            </a:pPr>
            <a:r>
              <a:t/>
            </a:r>
            <a:endParaRPr sz="2300"/>
          </a:p>
          <a:p>
            <a:pPr indent="0" lvl="0" marL="0" rtl="0" algn="ctr">
              <a:spcBef>
                <a:spcPts val="0"/>
              </a:spcBef>
              <a:spcAft>
                <a:spcPts val="0"/>
              </a:spcAft>
              <a:buNone/>
            </a:pPr>
            <a:r>
              <a:rPr lang="en" sz="2300"/>
              <a:t>We then followed an agile approach, holding daily standups to keep track of progress.</a:t>
            </a:r>
            <a:endParaRPr sz="2300"/>
          </a:p>
          <a:p>
            <a:pPr indent="0" lvl="0" marL="0" rtl="0" algn="ctr">
              <a:spcBef>
                <a:spcPts val="0"/>
              </a:spcBef>
              <a:spcAft>
                <a:spcPts val="0"/>
              </a:spcAft>
              <a:buNone/>
            </a:pPr>
            <a:r>
              <a:t/>
            </a:r>
            <a:endParaRPr sz="2300"/>
          </a:p>
          <a:p>
            <a:pPr indent="0" lvl="0" marL="0" rtl="0" algn="ctr">
              <a:spcBef>
                <a:spcPts val="0"/>
              </a:spcBef>
              <a:spcAft>
                <a:spcPts val="0"/>
              </a:spcAft>
              <a:buNone/>
            </a:pPr>
            <a:r>
              <a:rPr lang="en" sz="2300"/>
              <a:t>For our tech stack, we went with Python for the backend, interacting with our React frontend via FastAPI. We also used SQLite for our database.</a:t>
            </a:r>
            <a:endParaRPr sz="2300"/>
          </a:p>
          <a:p>
            <a:pPr indent="0" lvl="0" marL="0" rtl="0" algn="ctr">
              <a:spcBef>
                <a:spcPts val="0"/>
              </a:spcBef>
              <a:spcAft>
                <a:spcPts val="0"/>
              </a:spcAft>
              <a:buNone/>
            </a:pPr>
            <a:r>
              <a:t/>
            </a: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ctrTitle"/>
          </p:nvPr>
        </p:nvSpPr>
        <p:spPr>
          <a:xfrm>
            <a:off x="90650" y="81375"/>
            <a:ext cx="4750800" cy="1333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Team roles</a:t>
            </a:r>
            <a:endParaRPr/>
          </a:p>
        </p:txBody>
      </p:sp>
      <p:sp>
        <p:nvSpPr>
          <p:cNvPr id="73" name="Google Shape;73;p16"/>
          <p:cNvSpPr txBox="1"/>
          <p:nvPr/>
        </p:nvSpPr>
        <p:spPr>
          <a:xfrm>
            <a:off x="405300" y="1576950"/>
            <a:ext cx="7560600" cy="33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chemeClr val="dk1"/>
                </a:solidFill>
              </a:rPr>
              <a:t>Emmanuel</a:t>
            </a:r>
            <a:r>
              <a:rPr lang="en" sz="2200">
                <a:solidFill>
                  <a:schemeClr val="lt2"/>
                </a:solidFill>
              </a:rPr>
              <a:t> - Leader / </a:t>
            </a:r>
            <a:r>
              <a:rPr lang="en" sz="1500">
                <a:solidFill>
                  <a:schemeClr val="lt2"/>
                </a:solidFill>
              </a:rPr>
              <a:t>analysis</a:t>
            </a:r>
            <a:endParaRPr sz="1500">
              <a:solidFill>
                <a:schemeClr val="lt2"/>
              </a:solidFill>
            </a:endParaRPr>
          </a:p>
          <a:p>
            <a:pPr indent="0" lvl="0" marL="0" rtl="0" algn="l">
              <a:spcBef>
                <a:spcPts val="0"/>
              </a:spcBef>
              <a:spcAft>
                <a:spcPts val="0"/>
              </a:spcAft>
              <a:buNone/>
            </a:pPr>
            <a:r>
              <a:rPr b="1" lang="en" sz="2200">
                <a:solidFill>
                  <a:schemeClr val="dk1"/>
                </a:solidFill>
              </a:rPr>
              <a:t>Ahmed</a:t>
            </a:r>
            <a:r>
              <a:rPr b="1" lang="en" sz="2200">
                <a:solidFill>
                  <a:schemeClr val="lt2"/>
                </a:solidFill>
              </a:rPr>
              <a:t> </a:t>
            </a:r>
            <a:r>
              <a:rPr lang="en" sz="2200">
                <a:solidFill>
                  <a:schemeClr val="lt2"/>
                </a:solidFill>
              </a:rPr>
              <a:t>- Log Ingestion / </a:t>
            </a:r>
            <a:r>
              <a:rPr lang="en" sz="1500">
                <a:solidFill>
                  <a:schemeClr val="lt2"/>
                </a:solidFill>
              </a:rPr>
              <a:t>backend</a:t>
            </a:r>
            <a:endParaRPr sz="1500">
              <a:solidFill>
                <a:schemeClr val="lt2"/>
              </a:solidFill>
            </a:endParaRPr>
          </a:p>
          <a:p>
            <a:pPr indent="0" lvl="0" marL="0" rtl="0" algn="l">
              <a:spcBef>
                <a:spcPts val="0"/>
              </a:spcBef>
              <a:spcAft>
                <a:spcPts val="0"/>
              </a:spcAft>
              <a:buNone/>
            </a:pPr>
            <a:r>
              <a:rPr b="1" lang="en" sz="2200">
                <a:solidFill>
                  <a:schemeClr val="dk1"/>
                </a:solidFill>
              </a:rPr>
              <a:t>Martin</a:t>
            </a:r>
            <a:r>
              <a:rPr lang="en" sz="2200">
                <a:solidFill>
                  <a:schemeClr val="lt2"/>
                </a:solidFill>
              </a:rPr>
              <a:t> - Anomaly Detection / </a:t>
            </a:r>
            <a:r>
              <a:rPr lang="en" sz="1500">
                <a:solidFill>
                  <a:schemeClr val="lt2"/>
                </a:solidFill>
              </a:rPr>
              <a:t>backend</a:t>
            </a:r>
            <a:endParaRPr sz="1500">
              <a:solidFill>
                <a:schemeClr val="lt2"/>
              </a:solidFill>
            </a:endParaRPr>
          </a:p>
          <a:p>
            <a:pPr indent="0" lvl="0" marL="0" rtl="0" algn="l">
              <a:spcBef>
                <a:spcPts val="0"/>
              </a:spcBef>
              <a:spcAft>
                <a:spcPts val="0"/>
              </a:spcAft>
              <a:buNone/>
            </a:pPr>
            <a:r>
              <a:rPr b="1" lang="en" sz="2200">
                <a:solidFill>
                  <a:schemeClr val="dk1"/>
                </a:solidFill>
              </a:rPr>
              <a:t>Addie</a:t>
            </a:r>
            <a:r>
              <a:rPr lang="en" sz="2200">
                <a:solidFill>
                  <a:schemeClr val="lt2"/>
                </a:solidFill>
              </a:rPr>
              <a:t> - Analysis / </a:t>
            </a:r>
            <a:r>
              <a:rPr lang="en" sz="1500">
                <a:solidFill>
                  <a:schemeClr val="lt2"/>
                </a:solidFill>
              </a:rPr>
              <a:t>backend</a:t>
            </a:r>
            <a:endParaRPr sz="1500">
              <a:solidFill>
                <a:schemeClr val="lt2"/>
              </a:solidFill>
            </a:endParaRPr>
          </a:p>
          <a:p>
            <a:pPr indent="0" lvl="0" marL="0" rtl="0" algn="l">
              <a:spcBef>
                <a:spcPts val="0"/>
              </a:spcBef>
              <a:spcAft>
                <a:spcPts val="0"/>
              </a:spcAft>
              <a:buNone/>
            </a:pPr>
            <a:r>
              <a:rPr b="1" lang="en" sz="2200">
                <a:solidFill>
                  <a:schemeClr val="dk1"/>
                </a:solidFill>
              </a:rPr>
              <a:t>Sarah</a:t>
            </a:r>
            <a:r>
              <a:rPr lang="en" sz="2200">
                <a:solidFill>
                  <a:schemeClr val="lt2"/>
                </a:solidFill>
              </a:rPr>
              <a:t> - Menus / </a:t>
            </a:r>
            <a:r>
              <a:rPr lang="en" sz="1500">
                <a:solidFill>
                  <a:schemeClr val="lt2"/>
                </a:solidFill>
              </a:rPr>
              <a:t>frontend</a:t>
            </a:r>
            <a:endParaRPr sz="1500">
              <a:solidFill>
                <a:schemeClr val="lt2"/>
              </a:solidFill>
            </a:endParaRPr>
          </a:p>
          <a:p>
            <a:pPr indent="0" lvl="0" marL="0" rtl="0" algn="l">
              <a:spcBef>
                <a:spcPts val="0"/>
              </a:spcBef>
              <a:spcAft>
                <a:spcPts val="0"/>
              </a:spcAft>
              <a:buNone/>
            </a:pPr>
            <a:r>
              <a:rPr b="1" lang="en" sz="2200">
                <a:solidFill>
                  <a:schemeClr val="dk1"/>
                </a:solidFill>
              </a:rPr>
              <a:t>David </a:t>
            </a:r>
            <a:r>
              <a:rPr lang="en" sz="2200">
                <a:solidFill>
                  <a:schemeClr val="lt2"/>
                </a:solidFill>
              </a:rPr>
              <a:t>- Details Page / </a:t>
            </a:r>
            <a:r>
              <a:rPr lang="en" sz="1500">
                <a:solidFill>
                  <a:schemeClr val="lt2"/>
                </a:solidFill>
              </a:rPr>
              <a:t>frontend</a:t>
            </a:r>
            <a:endParaRPr sz="1500">
              <a:solidFill>
                <a:schemeClr val="lt2"/>
              </a:solidFill>
            </a:endParaRPr>
          </a:p>
          <a:p>
            <a:pPr indent="0" lvl="0" marL="0" rtl="0" algn="l">
              <a:spcBef>
                <a:spcPts val="0"/>
              </a:spcBef>
              <a:spcAft>
                <a:spcPts val="0"/>
              </a:spcAft>
              <a:buNone/>
            </a:pPr>
            <a:r>
              <a:rPr b="1" lang="en" sz="2200">
                <a:solidFill>
                  <a:schemeClr val="dk1"/>
                </a:solidFill>
              </a:rPr>
              <a:t>Sam</a:t>
            </a:r>
            <a:r>
              <a:rPr lang="en" sz="2200">
                <a:solidFill>
                  <a:schemeClr val="lt2"/>
                </a:solidFill>
              </a:rPr>
              <a:t> - Frontend / </a:t>
            </a:r>
            <a:r>
              <a:rPr lang="en" sz="1500">
                <a:solidFill>
                  <a:schemeClr val="lt2"/>
                </a:solidFill>
              </a:rPr>
              <a:t>scrum master</a:t>
            </a:r>
            <a:endParaRPr sz="1500">
              <a:solidFill>
                <a:schemeClr val="lt2"/>
              </a:solidFill>
            </a:endParaRPr>
          </a:p>
          <a:p>
            <a:pPr indent="0" lvl="0" marL="0" rtl="0" algn="l">
              <a:spcBef>
                <a:spcPts val="0"/>
              </a:spcBef>
              <a:spcAft>
                <a:spcPts val="0"/>
              </a:spcAft>
              <a:buNone/>
            </a:pPr>
            <a:r>
              <a:t/>
            </a:r>
            <a:endParaRPr sz="1100">
              <a:solidFill>
                <a:schemeClr val="lt2"/>
              </a:solidFill>
            </a:endParaRPr>
          </a:p>
          <a:p>
            <a:pPr indent="0" lvl="0" marL="0" rtl="0" algn="l">
              <a:spcBef>
                <a:spcPts val="0"/>
              </a:spcBef>
              <a:spcAft>
                <a:spcPts val="0"/>
              </a:spcAft>
              <a:buNone/>
            </a:pPr>
            <a:r>
              <a:t/>
            </a:r>
            <a:endParaRPr sz="1100">
              <a:solidFill>
                <a:schemeClr val="lt2"/>
              </a:solidFill>
            </a:endParaRPr>
          </a:p>
          <a:p>
            <a:pPr indent="0" lvl="0" marL="0" rtl="0" algn="l">
              <a:spcBef>
                <a:spcPts val="0"/>
              </a:spcBef>
              <a:spcAft>
                <a:spcPts val="0"/>
              </a:spcAft>
              <a:buNone/>
            </a:pPr>
            <a:r>
              <a:t/>
            </a:r>
            <a:endParaRPr sz="1100">
              <a:solidFill>
                <a:schemeClr val="lt2"/>
              </a:solidFill>
            </a:endParaRPr>
          </a:p>
          <a:p>
            <a:pPr indent="0" lvl="0" marL="0" rtl="0" algn="l">
              <a:spcBef>
                <a:spcPts val="0"/>
              </a:spcBef>
              <a:spcAft>
                <a:spcPts val="0"/>
              </a:spcAft>
              <a:buNone/>
            </a:pPr>
            <a:r>
              <a:t/>
            </a:r>
            <a:endParaRPr sz="1100">
              <a:solidFill>
                <a:schemeClr val="lt2"/>
              </a:solidFill>
            </a:endParaRPr>
          </a:p>
          <a:p>
            <a:pPr indent="0" lvl="0" marL="0" rtl="0" algn="l">
              <a:spcBef>
                <a:spcPts val="0"/>
              </a:spcBef>
              <a:spcAft>
                <a:spcPts val="0"/>
              </a:spcAft>
              <a:buNone/>
            </a:pPr>
            <a:r>
              <a:t/>
            </a:r>
            <a:endParaRPr sz="1100">
              <a:solidFill>
                <a:schemeClr val="lt2"/>
              </a:solidFill>
            </a:endParaRPr>
          </a:p>
          <a:p>
            <a:pPr indent="0" lvl="0" marL="0" rtl="0" algn="l">
              <a:spcBef>
                <a:spcPts val="0"/>
              </a:spcBef>
              <a:spcAft>
                <a:spcPts val="0"/>
              </a:spcAft>
              <a:buNone/>
            </a:pPr>
            <a:r>
              <a:t/>
            </a:r>
            <a:endParaRPr sz="1100">
              <a:solidFill>
                <a:schemeClr val="lt2"/>
              </a:solidFill>
            </a:endParaRPr>
          </a:p>
          <a:p>
            <a:pPr indent="0" lvl="0" marL="0" rtl="0" algn="l">
              <a:spcBef>
                <a:spcPts val="0"/>
              </a:spcBef>
              <a:spcAft>
                <a:spcPts val="0"/>
              </a:spcAft>
              <a:buNone/>
            </a:pPr>
            <a:r>
              <a:t/>
            </a:r>
            <a:endParaRPr sz="1100">
              <a:solidFill>
                <a:schemeClr val="lt2"/>
              </a:solidFill>
            </a:endParaRPr>
          </a:p>
          <a:p>
            <a:pPr indent="0" lvl="0" marL="0" rtl="0" algn="l">
              <a:spcBef>
                <a:spcPts val="0"/>
              </a:spcBef>
              <a:spcAft>
                <a:spcPts val="0"/>
              </a:spcAft>
              <a:buNone/>
            </a:pPr>
            <a:r>
              <a:t/>
            </a:r>
            <a:endParaRPr sz="1800">
              <a:solidFill>
                <a:schemeClr val="l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2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Ingestion</a:t>
            </a:r>
            <a:endParaRPr/>
          </a:p>
        </p:txBody>
      </p:sp>
      <p:sp>
        <p:nvSpPr>
          <p:cNvPr id="79" name="Google Shape;79;p17"/>
          <p:cNvSpPr txBox="1"/>
          <p:nvPr>
            <p:ph idx="1" type="body"/>
          </p:nvPr>
        </p:nvSpPr>
        <p:spPr>
          <a:xfrm>
            <a:off x="368325" y="1017725"/>
            <a:ext cx="3610800" cy="187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t>Entrypoint for the rest of the system. </a:t>
            </a:r>
            <a:r>
              <a:rPr lang="en" sz="1500"/>
              <a:t>Pulls logs and metrics from different sources, normalises them into a consistent format and stores them inside an SQLite database for the anomaly detection frontend.</a:t>
            </a:r>
            <a:endParaRPr sz="1500"/>
          </a:p>
        </p:txBody>
      </p:sp>
      <p:sp>
        <p:nvSpPr>
          <p:cNvPr id="80" name="Google Shape;80;p17"/>
          <p:cNvSpPr/>
          <p:nvPr/>
        </p:nvSpPr>
        <p:spPr>
          <a:xfrm>
            <a:off x="6066800" y="341850"/>
            <a:ext cx="2201100" cy="1083900"/>
          </a:xfrm>
          <a:prstGeom prst="snip2DiagRect">
            <a:avLst>
              <a:gd fmla="val 0" name="adj1"/>
              <a:gd fmla="val 24184" name="adj2"/>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endParaRPr>
          </a:p>
        </p:txBody>
      </p:sp>
      <p:sp>
        <p:nvSpPr>
          <p:cNvPr id="81" name="Google Shape;81;p17"/>
          <p:cNvSpPr txBox="1"/>
          <p:nvPr>
            <p:ph idx="1" type="body"/>
          </p:nvPr>
        </p:nvSpPr>
        <p:spPr>
          <a:xfrm>
            <a:off x="5971700" y="448650"/>
            <a:ext cx="2296200" cy="977100"/>
          </a:xfrm>
          <a:prstGeom prst="rect">
            <a:avLst/>
          </a:prstGeom>
        </p:spPr>
        <p:txBody>
          <a:bodyPr anchorCtr="0" anchor="t" bIns="91425" lIns="91425" spcFirstLastPara="1" rIns="91425" wrap="square" tIns="91425">
            <a:normAutofit fontScale="25000"/>
          </a:bodyPr>
          <a:lstStyle/>
          <a:p>
            <a:pPr indent="-281904" lvl="0" marL="457200" rtl="0" algn="l">
              <a:spcBef>
                <a:spcPts val="0"/>
              </a:spcBef>
              <a:spcAft>
                <a:spcPts val="0"/>
              </a:spcAft>
              <a:buClr>
                <a:srgbClr val="000000"/>
              </a:buClr>
              <a:buSzPct val="100000"/>
              <a:buChar char="●"/>
            </a:pPr>
            <a:r>
              <a:rPr lang="en" sz="3358">
                <a:solidFill>
                  <a:srgbClr val="000000"/>
                </a:solidFill>
              </a:rPr>
              <a:t>Prometheus and GCP in CSV</a:t>
            </a:r>
            <a:endParaRPr sz="3358">
              <a:solidFill>
                <a:srgbClr val="000000"/>
              </a:solidFill>
            </a:endParaRPr>
          </a:p>
          <a:p>
            <a:pPr indent="-281904" lvl="0" marL="457200" rtl="0" algn="l">
              <a:spcBef>
                <a:spcPts val="0"/>
              </a:spcBef>
              <a:spcAft>
                <a:spcPts val="0"/>
              </a:spcAft>
              <a:buClr>
                <a:srgbClr val="000000"/>
              </a:buClr>
              <a:buSzPct val="100000"/>
              <a:buChar char="●"/>
            </a:pPr>
            <a:r>
              <a:rPr lang="en" sz="3358">
                <a:solidFill>
                  <a:srgbClr val="000000"/>
                </a:solidFill>
              </a:rPr>
              <a:t>Kafka and app logs in JSON streams</a:t>
            </a:r>
            <a:endParaRPr sz="3358">
              <a:solidFill>
                <a:srgbClr val="000000"/>
              </a:solidFill>
            </a:endParaRPr>
          </a:p>
          <a:p>
            <a:pPr indent="-281904" lvl="0" marL="457200" rtl="0" algn="l">
              <a:spcBef>
                <a:spcPts val="0"/>
              </a:spcBef>
              <a:spcAft>
                <a:spcPts val="0"/>
              </a:spcAft>
              <a:buClr>
                <a:srgbClr val="000000"/>
              </a:buClr>
              <a:buSzPct val="100000"/>
              <a:buChar char="●"/>
            </a:pPr>
            <a:r>
              <a:rPr lang="en" sz="3358">
                <a:solidFill>
                  <a:srgbClr val="000000"/>
                </a:solidFill>
              </a:rPr>
              <a:t>OS and hardware sensor metrics.</a:t>
            </a:r>
            <a:endParaRPr sz="3358">
              <a:solidFill>
                <a:srgbClr val="000000"/>
              </a:solidFill>
            </a:endParaRPr>
          </a:p>
          <a:p>
            <a:pPr indent="0" lvl="0" marL="0" rtl="0" algn="l">
              <a:spcBef>
                <a:spcPts val="1200"/>
              </a:spcBef>
              <a:spcAft>
                <a:spcPts val="1200"/>
              </a:spcAft>
              <a:buNone/>
            </a:pPr>
            <a:r>
              <a:t/>
            </a:r>
            <a:endParaRPr/>
          </a:p>
        </p:txBody>
      </p:sp>
      <p:sp>
        <p:nvSpPr>
          <p:cNvPr id="82" name="Google Shape;82;p17"/>
          <p:cNvSpPr txBox="1"/>
          <p:nvPr/>
        </p:nvSpPr>
        <p:spPr>
          <a:xfrm>
            <a:off x="4141325" y="1635900"/>
            <a:ext cx="4760100" cy="32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2"/>
                </a:solidFill>
              </a:rPr>
              <a:t>Each </a:t>
            </a:r>
            <a:r>
              <a:rPr lang="en" sz="1500">
                <a:solidFill>
                  <a:schemeClr val="lt1"/>
                </a:solidFill>
                <a:highlight>
                  <a:schemeClr val="accent5"/>
                </a:highlight>
              </a:rPr>
              <a:t>source</a:t>
            </a:r>
            <a:r>
              <a:rPr lang="en" sz="1500">
                <a:solidFill>
                  <a:schemeClr val="lt2"/>
                </a:solidFill>
              </a:rPr>
              <a:t> has a dedicated parser, meaning new sources only require adding a new class.</a:t>
            </a:r>
            <a:endParaRPr sz="1500">
              <a:solidFill>
                <a:schemeClr val="lt2"/>
              </a:solidFill>
            </a:endParaRPr>
          </a:p>
          <a:p>
            <a:pPr indent="0" lvl="0" marL="0" rtl="0" algn="l">
              <a:spcBef>
                <a:spcPts val="0"/>
              </a:spcBef>
              <a:spcAft>
                <a:spcPts val="0"/>
              </a:spcAft>
              <a:buNone/>
            </a:pPr>
            <a:r>
              <a:t/>
            </a:r>
            <a:endParaRPr sz="1500">
              <a:solidFill>
                <a:schemeClr val="lt2"/>
              </a:solidFill>
            </a:endParaRPr>
          </a:p>
          <a:p>
            <a:pPr indent="0" lvl="0" marL="0" rtl="0" algn="l">
              <a:spcBef>
                <a:spcPts val="0"/>
              </a:spcBef>
              <a:spcAft>
                <a:spcPts val="0"/>
              </a:spcAft>
              <a:buNone/>
            </a:pPr>
            <a:r>
              <a:rPr lang="en" sz="1500">
                <a:solidFill>
                  <a:schemeClr val="lt2"/>
                </a:solidFill>
              </a:rPr>
              <a:t>All parsed data flows through a </a:t>
            </a:r>
            <a:r>
              <a:rPr lang="en" sz="1500">
                <a:solidFill>
                  <a:schemeClr val="lt1"/>
                </a:solidFill>
                <a:highlight>
                  <a:schemeClr val="accent4"/>
                </a:highlight>
              </a:rPr>
              <a:t>normalisation</a:t>
            </a:r>
            <a:r>
              <a:rPr lang="en" sz="1500">
                <a:solidFill>
                  <a:schemeClr val="lt2"/>
                </a:solidFill>
              </a:rPr>
              <a:t> step.</a:t>
            </a:r>
            <a:endParaRPr sz="1500">
              <a:solidFill>
                <a:schemeClr val="lt2"/>
              </a:solidFill>
            </a:endParaRPr>
          </a:p>
          <a:p>
            <a:pPr indent="0" lvl="0" marL="0" rtl="0" algn="l">
              <a:spcBef>
                <a:spcPts val="0"/>
              </a:spcBef>
              <a:spcAft>
                <a:spcPts val="0"/>
              </a:spcAft>
              <a:buNone/>
            </a:pPr>
            <a:r>
              <a:t/>
            </a:r>
            <a:endParaRPr sz="1500">
              <a:solidFill>
                <a:schemeClr val="lt2"/>
              </a:solidFill>
            </a:endParaRPr>
          </a:p>
          <a:p>
            <a:pPr indent="0" lvl="0" marL="0" rtl="0" algn="l">
              <a:spcBef>
                <a:spcPts val="0"/>
              </a:spcBef>
              <a:spcAft>
                <a:spcPts val="0"/>
              </a:spcAft>
              <a:buNone/>
            </a:pPr>
            <a:r>
              <a:rPr lang="en" sz="1500">
                <a:solidFill>
                  <a:schemeClr val="lt2"/>
                </a:solidFill>
              </a:rPr>
              <a:t>Writes go out in batches through a ‘writehelper’  that handles SQLite lock contention with retry/backoff. Database runs in WAL mode for better concurrency.</a:t>
            </a:r>
            <a:endParaRPr sz="1500">
              <a:solidFill>
                <a:schemeClr val="lt2"/>
              </a:solidFill>
            </a:endParaRPr>
          </a:p>
          <a:p>
            <a:pPr indent="0" lvl="0" marL="0" rtl="0" algn="l">
              <a:spcBef>
                <a:spcPts val="0"/>
              </a:spcBef>
              <a:spcAft>
                <a:spcPts val="0"/>
              </a:spcAft>
              <a:buNone/>
            </a:pPr>
            <a:r>
              <a:t/>
            </a:r>
            <a:endParaRPr sz="1500">
              <a:solidFill>
                <a:schemeClr val="lt2"/>
              </a:solidFill>
            </a:endParaRPr>
          </a:p>
          <a:p>
            <a:pPr indent="0" lvl="0" marL="0" rtl="0" algn="l">
              <a:spcBef>
                <a:spcPts val="0"/>
              </a:spcBef>
              <a:spcAft>
                <a:spcPts val="0"/>
              </a:spcAft>
              <a:buNone/>
            </a:pPr>
            <a:r>
              <a:rPr i="1" lang="en" sz="1500">
                <a:solidFill>
                  <a:schemeClr val="lt1"/>
                </a:solidFill>
                <a:highlight>
                  <a:schemeClr val="lt2"/>
                </a:highlight>
              </a:rPr>
              <a:t>PostgreSQL was considered, but given project scope; dealing with a few ATMs as </a:t>
            </a:r>
            <a:r>
              <a:rPr i="1" lang="en" sz="1500">
                <a:solidFill>
                  <a:schemeClr val="lt1"/>
                </a:solidFill>
                <a:highlight>
                  <a:schemeClr val="lt2"/>
                </a:highlight>
              </a:rPr>
              <a:t>opposed</a:t>
            </a:r>
            <a:r>
              <a:rPr i="1" lang="en" sz="1500">
                <a:solidFill>
                  <a:schemeClr val="lt1"/>
                </a:solidFill>
                <a:highlight>
                  <a:schemeClr val="lt2"/>
                </a:highlight>
              </a:rPr>
              <a:t> to hundreds of thousands, SQLite kept the stack simple, testable and self-contained.</a:t>
            </a:r>
            <a:endParaRPr i="1" sz="1500">
              <a:solidFill>
                <a:schemeClr val="lt1"/>
              </a:solidFill>
              <a:highlight>
                <a:schemeClr val="lt2"/>
              </a:highlight>
            </a:endParaRPr>
          </a:p>
        </p:txBody>
      </p:sp>
      <p:sp>
        <p:nvSpPr>
          <p:cNvPr id="83" name="Google Shape;83;p17"/>
          <p:cNvSpPr/>
          <p:nvPr/>
        </p:nvSpPr>
        <p:spPr>
          <a:xfrm>
            <a:off x="663175" y="2991700"/>
            <a:ext cx="2549700" cy="1608000"/>
          </a:xfrm>
          <a:prstGeom prst="round2DiagRect">
            <a:avLst>
              <a:gd fmla="val 16667" name="adj1"/>
              <a:gd fmla="val 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7"/>
          <p:cNvSpPr txBox="1"/>
          <p:nvPr>
            <p:ph idx="1" type="body"/>
          </p:nvPr>
        </p:nvSpPr>
        <p:spPr>
          <a:xfrm>
            <a:off x="552650" y="3043275"/>
            <a:ext cx="2726400" cy="1983900"/>
          </a:xfrm>
          <a:prstGeom prst="rect">
            <a:avLst/>
          </a:prstGeom>
        </p:spPr>
        <p:txBody>
          <a:bodyPr anchorCtr="0" anchor="t" bIns="91425" lIns="91425" spcFirstLastPara="1" rIns="91425" wrap="square" tIns="91425">
            <a:normAutofit/>
          </a:bodyPr>
          <a:lstStyle/>
          <a:p>
            <a:pPr indent="-282163" lvl="0" marL="457200" rtl="0" algn="l">
              <a:spcBef>
                <a:spcPts val="0"/>
              </a:spcBef>
              <a:spcAft>
                <a:spcPts val="0"/>
              </a:spcAft>
              <a:buClr>
                <a:srgbClr val="000000"/>
              </a:buClr>
              <a:buSzPts val="844"/>
              <a:buChar char="●"/>
            </a:pPr>
            <a:r>
              <a:rPr lang="en" sz="844">
                <a:solidFill>
                  <a:srgbClr val="000000"/>
                </a:solidFill>
              </a:rPr>
              <a:t>Timestamps converted to UTC</a:t>
            </a:r>
            <a:endParaRPr sz="844">
              <a:solidFill>
                <a:srgbClr val="000000"/>
              </a:solidFill>
            </a:endParaRPr>
          </a:p>
          <a:p>
            <a:pPr indent="-282163" lvl="0" marL="457200" rtl="0" algn="l">
              <a:spcBef>
                <a:spcPts val="0"/>
              </a:spcBef>
              <a:spcAft>
                <a:spcPts val="0"/>
              </a:spcAft>
              <a:buClr>
                <a:srgbClr val="000000"/>
              </a:buClr>
              <a:buSzPts val="844"/>
              <a:buChar char="●"/>
            </a:pPr>
            <a:r>
              <a:rPr lang="en" sz="844">
                <a:solidFill>
                  <a:srgbClr val="000000"/>
                </a:solidFill>
              </a:rPr>
              <a:t>Log levels standardised</a:t>
            </a:r>
            <a:endParaRPr sz="844">
              <a:solidFill>
                <a:srgbClr val="000000"/>
              </a:solidFill>
            </a:endParaRPr>
          </a:p>
          <a:p>
            <a:pPr indent="-282163" lvl="0" marL="457200" rtl="0" algn="l">
              <a:spcBef>
                <a:spcPts val="0"/>
              </a:spcBef>
              <a:spcAft>
                <a:spcPts val="0"/>
              </a:spcAft>
              <a:buClr>
                <a:srgbClr val="000000"/>
              </a:buClr>
              <a:buSzPts val="844"/>
              <a:buChar char="●"/>
            </a:pPr>
            <a:r>
              <a:rPr lang="en" sz="844">
                <a:solidFill>
                  <a:srgbClr val="000000"/>
                </a:solidFill>
              </a:rPr>
              <a:t>Fields mapped into unified tables:</a:t>
            </a:r>
            <a:endParaRPr sz="844">
              <a:solidFill>
                <a:srgbClr val="000000"/>
              </a:solidFill>
            </a:endParaRPr>
          </a:p>
          <a:p>
            <a:pPr indent="-282163" lvl="1" marL="914400" rtl="0" algn="l">
              <a:spcBef>
                <a:spcPts val="0"/>
              </a:spcBef>
              <a:spcAft>
                <a:spcPts val="0"/>
              </a:spcAft>
              <a:buClr>
                <a:srgbClr val="000000"/>
              </a:buClr>
              <a:buSzPts val="844"/>
              <a:buChar char="○"/>
            </a:pPr>
            <a:r>
              <a:rPr lang="en" sz="844">
                <a:solidFill>
                  <a:srgbClr val="000000"/>
                </a:solidFill>
              </a:rPr>
              <a:t> </a:t>
            </a:r>
            <a:r>
              <a:rPr lang="en" sz="844">
                <a:solidFill>
                  <a:schemeClr val="accent4"/>
                </a:solidFill>
                <a:highlight>
                  <a:schemeClr val="lt1"/>
                </a:highlight>
              </a:rPr>
              <a:t>Events</a:t>
            </a:r>
            <a:r>
              <a:rPr lang="en" sz="844">
                <a:solidFill>
                  <a:srgbClr val="000000"/>
                </a:solidFill>
              </a:rPr>
              <a:t> for discrete log entries </a:t>
            </a:r>
            <a:endParaRPr sz="844">
              <a:solidFill>
                <a:srgbClr val="000000"/>
              </a:solidFill>
            </a:endParaRPr>
          </a:p>
          <a:p>
            <a:pPr indent="-282163" lvl="1" marL="914400" rtl="0" algn="l">
              <a:spcBef>
                <a:spcPts val="0"/>
              </a:spcBef>
              <a:spcAft>
                <a:spcPts val="0"/>
              </a:spcAft>
              <a:buClr>
                <a:srgbClr val="000000"/>
              </a:buClr>
              <a:buSzPts val="844"/>
              <a:buChar char="○"/>
            </a:pPr>
            <a:r>
              <a:rPr lang="en" sz="844">
                <a:solidFill>
                  <a:schemeClr val="accent4"/>
                </a:solidFill>
                <a:highlight>
                  <a:schemeClr val="lt1"/>
                </a:highlight>
              </a:rPr>
              <a:t>Metrics</a:t>
            </a:r>
            <a:r>
              <a:rPr lang="en" sz="844">
                <a:solidFill>
                  <a:srgbClr val="000000"/>
                </a:solidFill>
              </a:rPr>
              <a:t> for time-series numeric data.</a:t>
            </a:r>
            <a:endParaRPr sz="844">
              <a:solidFill>
                <a:srgbClr val="000000"/>
              </a:solidFill>
            </a:endParaRPr>
          </a:p>
          <a:p>
            <a:pPr indent="-282163" lvl="0" marL="457200" rtl="0" algn="l">
              <a:spcBef>
                <a:spcPts val="0"/>
              </a:spcBef>
              <a:spcAft>
                <a:spcPts val="0"/>
              </a:spcAft>
              <a:buClr>
                <a:srgbClr val="000000"/>
              </a:buClr>
              <a:buSzPts val="844"/>
              <a:buChar char="●"/>
            </a:pPr>
            <a:r>
              <a:rPr lang="en" sz="844">
                <a:solidFill>
                  <a:srgbClr val="000000"/>
                </a:solidFill>
              </a:rPr>
              <a:t>Anything that can’t be parsed cleanly gets routed to the table </a:t>
            </a:r>
            <a:r>
              <a:rPr lang="en" sz="844">
                <a:solidFill>
                  <a:schemeClr val="accent4"/>
                </a:solidFill>
                <a:highlight>
                  <a:schemeClr val="lt1"/>
                </a:highlight>
              </a:rPr>
              <a:t>ingestion_errors</a:t>
            </a:r>
            <a:r>
              <a:rPr lang="en" sz="844">
                <a:solidFill>
                  <a:srgbClr val="000000"/>
                </a:solidFill>
              </a:rPr>
              <a:t>, as opposed to causing a crash</a:t>
            </a:r>
            <a:endParaRPr sz="844">
              <a:solidFill>
                <a:srgbClr val="000000"/>
              </a:solidFill>
            </a:endParaRPr>
          </a:p>
          <a:p>
            <a:pPr indent="0" lvl="0" marL="0" rtl="0" algn="l">
              <a:spcBef>
                <a:spcPts val="1200"/>
              </a:spcBef>
              <a:spcAft>
                <a:spcPts val="1200"/>
              </a:spcAft>
              <a:buNone/>
            </a:pPr>
            <a:r>
              <a:t/>
            </a:r>
            <a:endParaRPr/>
          </a:p>
        </p:txBody>
      </p:sp>
      <p:cxnSp>
        <p:nvCxnSpPr>
          <p:cNvPr id="85" name="Google Shape;85;p17"/>
          <p:cNvCxnSpPr/>
          <p:nvPr/>
        </p:nvCxnSpPr>
        <p:spPr>
          <a:xfrm>
            <a:off x="368325" y="1075850"/>
            <a:ext cx="0" cy="1606500"/>
          </a:xfrm>
          <a:prstGeom prst="straightConnector1">
            <a:avLst/>
          </a:prstGeom>
          <a:noFill/>
          <a:ln cap="flat" cmpd="sng" w="9525">
            <a:solidFill>
              <a:schemeClr val="lt2"/>
            </a:solidFill>
            <a:prstDash val="solid"/>
            <a:round/>
            <a:headEnd len="med" w="med" type="none"/>
            <a:tailEnd len="med" w="med" type="none"/>
          </a:ln>
        </p:spPr>
      </p:cxnSp>
      <p:cxnSp>
        <p:nvCxnSpPr>
          <p:cNvPr id="86" name="Google Shape;86;p17"/>
          <p:cNvCxnSpPr/>
          <p:nvPr/>
        </p:nvCxnSpPr>
        <p:spPr>
          <a:xfrm>
            <a:off x="4141325" y="1708950"/>
            <a:ext cx="11100" cy="31257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Anomaly Detection</a:t>
            </a:r>
            <a:endParaRPr/>
          </a:p>
        </p:txBody>
      </p:sp>
      <p:sp>
        <p:nvSpPr>
          <p:cNvPr id="92" name="Google Shape;92;p18"/>
          <p:cNvSpPr txBox="1"/>
          <p:nvPr>
            <p:ph idx="1" type="body"/>
          </p:nvPr>
        </p:nvSpPr>
        <p:spPr>
          <a:xfrm>
            <a:off x="311700" y="1389600"/>
            <a:ext cx="46992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Follows on from ingestion by reading in from the database and identifying when something is going wrong across the network. </a:t>
            </a:r>
            <a:br>
              <a:rPr lang="en"/>
            </a:br>
            <a:br>
              <a:rPr lang="en"/>
            </a:br>
            <a:r>
              <a:rPr lang="en"/>
              <a:t>Each detector follows a checklist pattern, gathering signals from multiple sources and firing when all conditions from the spec are met. </a:t>
            </a:r>
            <a:br>
              <a:rPr lang="en"/>
            </a:br>
            <a:br>
              <a:rPr lang="en"/>
            </a:br>
            <a:r>
              <a:rPr lang="en"/>
              <a:t>Detected anomalies are written to the anomalies table with severity, explanation, correlation ID and JSON evidence ready to be consumed by the analysis layer and frontend.</a:t>
            </a:r>
            <a:endParaRPr/>
          </a:p>
          <a:p>
            <a:pPr indent="0" lvl="0" marL="457200" rtl="0" algn="l">
              <a:spcBef>
                <a:spcPts val="1200"/>
              </a:spcBef>
              <a:spcAft>
                <a:spcPts val="1200"/>
              </a:spcAft>
              <a:buNone/>
            </a:pPr>
            <a:r>
              <a:t/>
            </a:r>
            <a:endParaRPr/>
          </a:p>
        </p:txBody>
      </p:sp>
      <p:sp>
        <p:nvSpPr>
          <p:cNvPr id="93" name="Google Shape;93;p18"/>
          <p:cNvSpPr/>
          <p:nvPr/>
        </p:nvSpPr>
        <p:spPr>
          <a:xfrm>
            <a:off x="5249250" y="173041"/>
            <a:ext cx="3759000" cy="4797300"/>
          </a:xfrm>
          <a:prstGeom prst="round2DiagRect">
            <a:avLst>
              <a:gd fmla="val 16667" name="adj1"/>
              <a:gd fmla="val 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t>A1: Network timeout cascade</a:t>
            </a:r>
            <a:br>
              <a:rPr lang="en" sz="1500"/>
            </a:br>
            <a:endParaRPr sz="1500"/>
          </a:p>
          <a:p>
            <a:pPr indent="0" lvl="0" marL="0" rtl="0" algn="ctr">
              <a:spcBef>
                <a:spcPts val="0"/>
              </a:spcBef>
              <a:spcAft>
                <a:spcPts val="0"/>
              </a:spcAft>
              <a:buNone/>
            </a:pPr>
            <a:r>
              <a:rPr lang="en" sz="1500"/>
              <a:t>A2: Cash cassette depletion</a:t>
            </a:r>
            <a:br>
              <a:rPr lang="en" sz="1500"/>
            </a:br>
            <a:endParaRPr sz="1500"/>
          </a:p>
          <a:p>
            <a:pPr indent="0" lvl="0" marL="0" rtl="0" algn="ctr">
              <a:spcBef>
                <a:spcPts val="0"/>
              </a:spcBef>
              <a:spcAft>
                <a:spcPts val="0"/>
              </a:spcAft>
              <a:buNone/>
            </a:pPr>
            <a:r>
              <a:rPr lang="en" sz="1500"/>
              <a:t>A3: JVM memory leak</a:t>
            </a:r>
            <a:br>
              <a:rPr lang="en" sz="1500"/>
            </a:br>
            <a:endParaRPr sz="1500"/>
          </a:p>
          <a:p>
            <a:pPr indent="0" lvl="0" marL="0" rtl="0" algn="ctr">
              <a:spcBef>
                <a:spcPts val="0"/>
              </a:spcBef>
              <a:spcAft>
                <a:spcPts val="0"/>
              </a:spcAft>
              <a:buNone/>
            </a:pPr>
            <a:r>
              <a:rPr lang="en" sz="1500"/>
              <a:t>A4: Container restart loop</a:t>
            </a:r>
            <a:br>
              <a:rPr lang="en" sz="1500"/>
            </a:br>
            <a:endParaRPr sz="1500"/>
          </a:p>
          <a:p>
            <a:pPr indent="0" lvl="0" marL="0" rtl="0" algn="ctr">
              <a:spcBef>
                <a:spcPts val="0"/>
              </a:spcBef>
              <a:spcAft>
                <a:spcPts val="0"/>
              </a:spcAft>
              <a:buNone/>
            </a:pPr>
            <a:r>
              <a:rPr lang="en" sz="1500"/>
              <a:t>A5: High response time spike — threshold-based Kafka + ATM app correlation</a:t>
            </a:r>
            <a:br>
              <a:rPr lang="en" sz="1500"/>
            </a:br>
            <a:endParaRPr sz="1500"/>
          </a:p>
          <a:p>
            <a:pPr indent="0" lvl="0" marL="0" rtl="0" algn="ctr">
              <a:spcBef>
                <a:spcPts val="0"/>
              </a:spcBef>
              <a:spcAft>
                <a:spcPts val="0"/>
              </a:spcAft>
              <a:buNone/>
            </a:pPr>
            <a:r>
              <a:rPr lang="en" sz="1500"/>
              <a:t>A6: OS memory pressure</a:t>
            </a:r>
            <a:br>
              <a:rPr lang="en" sz="1500"/>
            </a:br>
            <a:endParaRPr sz="1500"/>
          </a:p>
          <a:p>
            <a:pPr indent="0" lvl="0" marL="0" rtl="0" algn="ctr">
              <a:spcBef>
                <a:spcPts val="0"/>
              </a:spcBef>
              <a:spcAft>
                <a:spcPts val="0"/>
              </a:spcAft>
              <a:buNone/>
            </a:pPr>
            <a:r>
              <a:rPr lang="en" sz="1500"/>
              <a:t>A7: Malformed/out-of-order Kafka events</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37075" y="180325"/>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Analysis</a:t>
            </a:r>
            <a:endParaRPr/>
          </a:p>
        </p:txBody>
      </p:sp>
      <p:sp>
        <p:nvSpPr>
          <p:cNvPr id="99" name="Google Shape;99;p19"/>
          <p:cNvSpPr txBox="1"/>
          <p:nvPr>
            <p:ph idx="1" type="body"/>
          </p:nvPr>
        </p:nvSpPr>
        <p:spPr>
          <a:xfrm>
            <a:off x="337075" y="1028475"/>
            <a:ext cx="4112400" cy="371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Responsible for giving more detail on </a:t>
            </a:r>
            <a:r>
              <a:rPr lang="en" sz="1000"/>
              <a:t>anomalous</a:t>
            </a:r>
            <a:r>
              <a:rPr lang="en" sz="1000"/>
              <a:t> activity within the </a:t>
            </a:r>
            <a:r>
              <a:rPr lang="en" sz="1000"/>
              <a:t>system. Assigns an explanation for cause, the potential operational impacts and the recommended fixes for each anomaly</a:t>
            </a:r>
            <a:r>
              <a:rPr lang="en" sz="1000"/>
              <a:t>.</a:t>
            </a:r>
            <a:endParaRPr sz="1000"/>
          </a:p>
          <a:p>
            <a:pPr indent="0" lvl="0" marL="0" rtl="0" algn="l">
              <a:spcBef>
                <a:spcPts val="1200"/>
              </a:spcBef>
              <a:spcAft>
                <a:spcPts val="0"/>
              </a:spcAft>
              <a:buNone/>
            </a:pPr>
            <a:r>
              <a:rPr lang="en" sz="1000"/>
              <a:t>Utilises fields from logs related to the anomaly; related to correlation IDs, such as from related client or ATM. Description varies and in large part corresponds to the type of anomaly it is (cash depletion, network timeout etc). </a:t>
            </a:r>
            <a:endParaRPr sz="1000"/>
          </a:p>
          <a:p>
            <a:pPr indent="0" lvl="0" marL="0" rtl="0" algn="l">
              <a:spcBef>
                <a:spcPts val="1200"/>
              </a:spcBef>
              <a:spcAft>
                <a:spcPts val="0"/>
              </a:spcAft>
              <a:buNone/>
            </a:pPr>
            <a:r>
              <a:rPr lang="en" sz="1000"/>
              <a:t>A1 Fields Example:</a:t>
            </a:r>
            <a:endParaRPr sz="1000"/>
          </a:p>
          <a:p>
            <a:pPr indent="0" lvl="0" marL="0" rtl="0" algn="l">
              <a:lnSpc>
                <a:spcPct val="135714"/>
              </a:lnSpc>
              <a:spcBef>
                <a:spcPts val="1200"/>
              </a:spcBef>
              <a:spcAft>
                <a:spcPts val="0"/>
              </a:spcAft>
              <a:buNone/>
            </a:pPr>
            <a:r>
              <a:rPr lang="en" sz="750">
                <a:solidFill>
                  <a:srgbClr val="6A9955"/>
                </a:solidFill>
                <a:highlight>
                  <a:srgbClr val="1F1F1F"/>
                </a:highlight>
                <a:latin typeface="Courier New"/>
                <a:ea typeface="Courier New"/>
                <a:cs typeface="Courier New"/>
                <a:sym typeface="Courier New"/>
              </a:rPr>
              <a:t># '{"network_disconnect": true, "error_code_correct": true, "timeout": true, "kafka_offline": true, "kafka_host_unavailable": true, "terminal_timeout": true, "last_ts": "2026-03-30T07:59:00+00:00"}</a:t>
            </a:r>
            <a:endParaRPr sz="750">
              <a:solidFill>
                <a:srgbClr val="6A9955"/>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750">
              <a:solidFill>
                <a:srgbClr val="6A9955"/>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rPr lang="en" sz="1000"/>
              <a:t>Orders analysis based on </a:t>
            </a:r>
            <a:r>
              <a:rPr lang="en" sz="1000">
                <a:solidFill>
                  <a:schemeClr val="lt1"/>
                </a:solidFill>
                <a:highlight>
                  <a:schemeClr val="accent4"/>
                </a:highlight>
              </a:rPr>
              <a:t>ranking</a:t>
            </a:r>
            <a:r>
              <a:rPr lang="en" sz="1000"/>
              <a:t> of how critical they are.</a:t>
            </a:r>
            <a:endParaRPr sz="1000"/>
          </a:p>
          <a:p>
            <a:pPr indent="0" lvl="0" marL="0" rtl="0" algn="l">
              <a:spcBef>
                <a:spcPts val="1200"/>
              </a:spcBef>
              <a:spcAft>
                <a:spcPts val="1200"/>
              </a:spcAft>
              <a:buNone/>
            </a:pPr>
            <a:r>
              <a:rPr lang="en" sz="1000"/>
              <a:t>Each analysis has its own function, so accounting for analysis of additional future anomaly types would only require adding a new function.</a:t>
            </a:r>
            <a:endParaRPr sz="1000"/>
          </a:p>
        </p:txBody>
      </p:sp>
      <p:sp>
        <p:nvSpPr>
          <p:cNvPr id="100" name="Google Shape;100;p19"/>
          <p:cNvSpPr/>
          <p:nvPr/>
        </p:nvSpPr>
        <p:spPr>
          <a:xfrm>
            <a:off x="4979250" y="936025"/>
            <a:ext cx="3189300" cy="3435900"/>
          </a:xfrm>
          <a:prstGeom prst="round2DiagRect">
            <a:avLst>
              <a:gd fmla="val 16667" name="adj1"/>
              <a:gd fmla="val 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9"/>
          <p:cNvSpPr txBox="1"/>
          <p:nvPr>
            <p:ph idx="1" type="body"/>
          </p:nvPr>
        </p:nvSpPr>
        <p:spPr>
          <a:xfrm>
            <a:off x="4979250" y="1028475"/>
            <a:ext cx="3020400" cy="3327000"/>
          </a:xfrm>
          <a:prstGeom prst="rect">
            <a:avLst/>
          </a:prstGeom>
        </p:spPr>
        <p:txBody>
          <a:bodyPr anchorCtr="0" anchor="t" bIns="91425" lIns="91425" spcFirstLastPara="1" rIns="91425" wrap="square" tIns="91425">
            <a:normAutofit fontScale="92500" lnSpcReduction="10000"/>
          </a:bodyPr>
          <a:lstStyle/>
          <a:p>
            <a:pPr indent="0" lvl="0" marL="457200" rtl="0" algn="l">
              <a:spcBef>
                <a:spcPts val="0"/>
              </a:spcBef>
              <a:spcAft>
                <a:spcPts val="0"/>
              </a:spcAft>
              <a:buNone/>
            </a:pPr>
            <a:r>
              <a:rPr lang="en" sz="1244">
                <a:solidFill>
                  <a:srgbClr val="000000"/>
                </a:solidFill>
              </a:rPr>
              <a:t>Numerous factors go into determining ranking:</a:t>
            </a:r>
            <a:endParaRPr sz="1244">
              <a:solidFill>
                <a:srgbClr val="000000"/>
              </a:solidFill>
            </a:endParaRPr>
          </a:p>
          <a:p>
            <a:pPr indent="-301641" lvl="0" marL="457200" rtl="0" algn="l">
              <a:spcBef>
                <a:spcPts val="1200"/>
              </a:spcBef>
              <a:spcAft>
                <a:spcPts val="0"/>
              </a:spcAft>
              <a:buClr>
                <a:srgbClr val="000000"/>
              </a:buClr>
              <a:buSzPct val="100000"/>
              <a:buChar char="●"/>
            </a:pPr>
            <a:r>
              <a:rPr lang="en" sz="1244">
                <a:solidFill>
                  <a:srgbClr val="000000"/>
                </a:solidFill>
              </a:rPr>
              <a:t>Anomaly type (</a:t>
            </a:r>
            <a:r>
              <a:rPr lang="en" sz="1244">
                <a:solidFill>
                  <a:srgbClr val="000000"/>
                </a:solidFill>
              </a:rPr>
              <a:t>Cash depletion, network timeout etc</a:t>
            </a:r>
            <a:r>
              <a:rPr lang="en" sz="1244">
                <a:solidFill>
                  <a:srgbClr val="000000"/>
                </a:solidFill>
              </a:rPr>
              <a:t>) are weighted differently in terms of how detrimental they are at a surface level. </a:t>
            </a:r>
            <a:r>
              <a:rPr lang="en" sz="1050">
                <a:solidFill>
                  <a:srgbClr val="CE9178"/>
                </a:solidFill>
                <a:highlight>
                  <a:srgbClr val="1F1F1F"/>
                </a:highlight>
                <a:latin typeface="Courier New"/>
                <a:ea typeface="Courier New"/>
                <a:cs typeface="Courier New"/>
                <a:sym typeface="Courier New"/>
              </a:rPr>
              <a:t>'A1'</a:t>
            </a:r>
            <a:r>
              <a:rPr lang="en" sz="1050">
                <a:solidFill>
                  <a:srgbClr val="CCCCCC"/>
                </a:solidFill>
                <a:highlight>
                  <a:srgbClr val="1F1F1F"/>
                </a:highlight>
                <a:latin typeface="Courier New"/>
                <a:ea typeface="Courier New"/>
                <a:cs typeface="Courier New"/>
                <a:sym typeface="Courier New"/>
              </a:rPr>
              <a:t>: </a:t>
            </a:r>
            <a:r>
              <a:rPr lang="en" sz="1050">
                <a:solidFill>
                  <a:srgbClr val="B5CEA8"/>
                </a:solidFill>
                <a:highlight>
                  <a:srgbClr val="1F1F1F"/>
                </a:highlight>
                <a:latin typeface="Courier New"/>
                <a:ea typeface="Courier New"/>
                <a:cs typeface="Courier New"/>
                <a:sym typeface="Courier New"/>
              </a:rPr>
              <a:t>7</a:t>
            </a:r>
            <a:r>
              <a:rPr lang="en" sz="1050">
                <a:solidFill>
                  <a:srgbClr val="CCCCCC"/>
                </a:solidFill>
                <a:highlight>
                  <a:srgbClr val="1F1F1F"/>
                </a:highlight>
                <a:latin typeface="Courier New"/>
                <a:ea typeface="Courier New"/>
                <a:cs typeface="Courier New"/>
                <a:sym typeface="Courier New"/>
              </a:rPr>
              <a:t>, </a:t>
            </a:r>
            <a:r>
              <a:rPr lang="en" sz="1050">
                <a:solidFill>
                  <a:srgbClr val="CE9178"/>
                </a:solidFill>
                <a:highlight>
                  <a:srgbClr val="1F1F1F"/>
                </a:highlight>
                <a:latin typeface="Courier New"/>
                <a:ea typeface="Courier New"/>
                <a:cs typeface="Courier New"/>
                <a:sym typeface="Courier New"/>
              </a:rPr>
              <a:t>'A4'</a:t>
            </a:r>
            <a:r>
              <a:rPr lang="en" sz="1050">
                <a:solidFill>
                  <a:srgbClr val="CCCCCC"/>
                </a:solidFill>
                <a:highlight>
                  <a:srgbClr val="1F1F1F"/>
                </a:highlight>
                <a:latin typeface="Courier New"/>
                <a:ea typeface="Courier New"/>
                <a:cs typeface="Courier New"/>
                <a:sym typeface="Courier New"/>
              </a:rPr>
              <a:t>: </a:t>
            </a:r>
            <a:r>
              <a:rPr lang="en" sz="1050">
                <a:solidFill>
                  <a:srgbClr val="B5CEA8"/>
                </a:solidFill>
                <a:highlight>
                  <a:srgbClr val="1F1F1F"/>
                </a:highlight>
                <a:latin typeface="Courier New"/>
                <a:ea typeface="Courier New"/>
                <a:cs typeface="Courier New"/>
                <a:sym typeface="Courier New"/>
              </a:rPr>
              <a:t>6</a:t>
            </a:r>
            <a:r>
              <a:rPr lang="en" sz="1050">
                <a:solidFill>
                  <a:srgbClr val="CCCCCC"/>
                </a:solidFill>
                <a:highlight>
                  <a:srgbClr val="1F1F1F"/>
                </a:highlight>
                <a:latin typeface="Courier New"/>
                <a:ea typeface="Courier New"/>
                <a:cs typeface="Courier New"/>
                <a:sym typeface="Courier New"/>
              </a:rPr>
              <a:t>, </a:t>
            </a:r>
            <a:r>
              <a:rPr lang="en" sz="1050">
                <a:solidFill>
                  <a:srgbClr val="CE9178"/>
                </a:solidFill>
                <a:highlight>
                  <a:srgbClr val="1F1F1F"/>
                </a:highlight>
                <a:latin typeface="Courier New"/>
                <a:ea typeface="Courier New"/>
                <a:cs typeface="Courier New"/>
                <a:sym typeface="Courier New"/>
              </a:rPr>
              <a:t>'A3'</a:t>
            </a:r>
            <a:r>
              <a:rPr lang="en" sz="1050">
                <a:solidFill>
                  <a:srgbClr val="CCCCCC"/>
                </a:solidFill>
                <a:highlight>
                  <a:srgbClr val="1F1F1F"/>
                </a:highlight>
                <a:latin typeface="Courier New"/>
                <a:ea typeface="Courier New"/>
                <a:cs typeface="Courier New"/>
                <a:sym typeface="Courier New"/>
              </a:rPr>
              <a:t>: </a:t>
            </a:r>
            <a:r>
              <a:rPr lang="en" sz="1050">
                <a:solidFill>
                  <a:srgbClr val="B5CEA8"/>
                </a:solidFill>
                <a:highlight>
                  <a:srgbClr val="1F1F1F"/>
                </a:highlight>
                <a:latin typeface="Courier New"/>
                <a:ea typeface="Courier New"/>
                <a:cs typeface="Courier New"/>
                <a:sym typeface="Courier New"/>
              </a:rPr>
              <a:t>5</a:t>
            </a:r>
            <a:r>
              <a:rPr lang="en" sz="1050">
                <a:solidFill>
                  <a:srgbClr val="CCCCCC"/>
                </a:solidFill>
                <a:highlight>
                  <a:srgbClr val="1F1F1F"/>
                </a:highlight>
                <a:latin typeface="Courier New"/>
                <a:ea typeface="Courier New"/>
                <a:cs typeface="Courier New"/>
                <a:sym typeface="Courier New"/>
              </a:rPr>
              <a:t>, </a:t>
            </a:r>
            <a:r>
              <a:rPr lang="en" sz="1050">
                <a:solidFill>
                  <a:srgbClr val="CE9178"/>
                </a:solidFill>
                <a:highlight>
                  <a:srgbClr val="1F1F1F"/>
                </a:highlight>
                <a:latin typeface="Courier New"/>
                <a:ea typeface="Courier New"/>
                <a:cs typeface="Courier New"/>
                <a:sym typeface="Courier New"/>
              </a:rPr>
              <a:t>'A2'</a:t>
            </a:r>
            <a:r>
              <a:rPr lang="en" sz="1050">
                <a:solidFill>
                  <a:srgbClr val="CCCCCC"/>
                </a:solidFill>
                <a:highlight>
                  <a:srgbClr val="1F1F1F"/>
                </a:highlight>
                <a:latin typeface="Courier New"/>
                <a:ea typeface="Courier New"/>
                <a:cs typeface="Courier New"/>
                <a:sym typeface="Courier New"/>
              </a:rPr>
              <a:t>: </a:t>
            </a:r>
            <a:r>
              <a:rPr lang="en" sz="1050">
                <a:solidFill>
                  <a:srgbClr val="B5CEA8"/>
                </a:solidFill>
                <a:highlight>
                  <a:srgbClr val="1F1F1F"/>
                </a:highlight>
                <a:latin typeface="Courier New"/>
                <a:ea typeface="Courier New"/>
                <a:cs typeface="Courier New"/>
                <a:sym typeface="Courier New"/>
              </a:rPr>
              <a:t>4</a:t>
            </a:r>
            <a:r>
              <a:rPr lang="en" sz="1050">
                <a:solidFill>
                  <a:srgbClr val="CCCCCC"/>
                </a:solidFill>
                <a:highlight>
                  <a:srgbClr val="1F1F1F"/>
                </a:highlight>
                <a:latin typeface="Courier New"/>
                <a:ea typeface="Courier New"/>
                <a:cs typeface="Courier New"/>
                <a:sym typeface="Courier New"/>
              </a:rPr>
              <a:t>, </a:t>
            </a:r>
            <a:r>
              <a:rPr lang="en" sz="1050">
                <a:solidFill>
                  <a:srgbClr val="CE9178"/>
                </a:solidFill>
                <a:highlight>
                  <a:srgbClr val="1F1F1F"/>
                </a:highlight>
                <a:latin typeface="Courier New"/>
                <a:ea typeface="Courier New"/>
                <a:cs typeface="Courier New"/>
                <a:sym typeface="Courier New"/>
              </a:rPr>
              <a:t>'A6'</a:t>
            </a:r>
            <a:r>
              <a:rPr lang="en" sz="1050">
                <a:solidFill>
                  <a:srgbClr val="CCCCCC"/>
                </a:solidFill>
                <a:highlight>
                  <a:srgbClr val="1F1F1F"/>
                </a:highlight>
                <a:latin typeface="Courier New"/>
                <a:ea typeface="Courier New"/>
                <a:cs typeface="Courier New"/>
                <a:sym typeface="Courier New"/>
              </a:rPr>
              <a:t>: </a:t>
            </a:r>
            <a:r>
              <a:rPr lang="en" sz="1050">
                <a:solidFill>
                  <a:srgbClr val="B5CEA8"/>
                </a:solidFill>
                <a:highlight>
                  <a:srgbClr val="1F1F1F"/>
                </a:highlight>
                <a:latin typeface="Courier New"/>
                <a:ea typeface="Courier New"/>
                <a:cs typeface="Courier New"/>
                <a:sym typeface="Courier New"/>
              </a:rPr>
              <a:t>3</a:t>
            </a:r>
            <a:r>
              <a:rPr lang="en" sz="1050">
                <a:solidFill>
                  <a:srgbClr val="CCCCCC"/>
                </a:solidFill>
                <a:highlight>
                  <a:srgbClr val="1F1F1F"/>
                </a:highlight>
                <a:latin typeface="Courier New"/>
                <a:ea typeface="Courier New"/>
                <a:cs typeface="Courier New"/>
                <a:sym typeface="Courier New"/>
              </a:rPr>
              <a:t>, </a:t>
            </a:r>
            <a:r>
              <a:rPr lang="en" sz="1050">
                <a:solidFill>
                  <a:srgbClr val="CE9178"/>
                </a:solidFill>
                <a:highlight>
                  <a:srgbClr val="1F1F1F"/>
                </a:highlight>
                <a:latin typeface="Courier New"/>
                <a:ea typeface="Courier New"/>
                <a:cs typeface="Courier New"/>
                <a:sym typeface="Courier New"/>
              </a:rPr>
              <a:t>'A5'</a:t>
            </a:r>
            <a:r>
              <a:rPr lang="en" sz="1050">
                <a:solidFill>
                  <a:srgbClr val="CCCCCC"/>
                </a:solidFill>
                <a:highlight>
                  <a:srgbClr val="1F1F1F"/>
                </a:highlight>
                <a:latin typeface="Courier New"/>
                <a:ea typeface="Courier New"/>
                <a:cs typeface="Courier New"/>
                <a:sym typeface="Courier New"/>
              </a:rPr>
              <a:t>: </a:t>
            </a:r>
            <a:r>
              <a:rPr lang="en" sz="1050">
                <a:solidFill>
                  <a:srgbClr val="B5CEA8"/>
                </a:solidFill>
                <a:highlight>
                  <a:srgbClr val="1F1F1F"/>
                </a:highlight>
                <a:latin typeface="Courier New"/>
                <a:ea typeface="Courier New"/>
                <a:cs typeface="Courier New"/>
                <a:sym typeface="Courier New"/>
              </a:rPr>
              <a:t>2</a:t>
            </a:r>
            <a:r>
              <a:rPr lang="en" sz="1050">
                <a:solidFill>
                  <a:srgbClr val="CCCCCC"/>
                </a:solidFill>
                <a:highlight>
                  <a:srgbClr val="1F1F1F"/>
                </a:highlight>
                <a:latin typeface="Courier New"/>
                <a:ea typeface="Courier New"/>
                <a:cs typeface="Courier New"/>
                <a:sym typeface="Courier New"/>
              </a:rPr>
              <a:t>, </a:t>
            </a:r>
            <a:r>
              <a:rPr lang="en" sz="1050">
                <a:solidFill>
                  <a:srgbClr val="CE9178"/>
                </a:solidFill>
                <a:highlight>
                  <a:srgbClr val="1F1F1F"/>
                </a:highlight>
                <a:latin typeface="Courier New"/>
                <a:ea typeface="Courier New"/>
                <a:cs typeface="Courier New"/>
                <a:sym typeface="Courier New"/>
              </a:rPr>
              <a:t>'A7'</a:t>
            </a:r>
            <a:r>
              <a:rPr lang="en" sz="1050">
                <a:solidFill>
                  <a:srgbClr val="CCCCCC"/>
                </a:solidFill>
                <a:highlight>
                  <a:srgbClr val="1F1F1F"/>
                </a:highlight>
                <a:latin typeface="Courier New"/>
                <a:ea typeface="Courier New"/>
                <a:cs typeface="Courier New"/>
                <a:sym typeface="Courier New"/>
              </a:rPr>
              <a:t>: </a:t>
            </a:r>
            <a:r>
              <a:rPr lang="en" sz="1050">
                <a:solidFill>
                  <a:srgbClr val="B5CEA8"/>
                </a:solidFill>
                <a:highlight>
                  <a:srgbClr val="1F1F1F"/>
                </a:highlight>
                <a:latin typeface="Courier New"/>
                <a:ea typeface="Courier New"/>
                <a:cs typeface="Courier New"/>
                <a:sym typeface="Courier New"/>
              </a:rPr>
              <a:t>1</a:t>
            </a:r>
            <a:endParaRPr sz="1244">
              <a:solidFill>
                <a:srgbClr val="000000"/>
              </a:solidFill>
            </a:endParaRPr>
          </a:p>
          <a:p>
            <a:pPr indent="-301641" lvl="0" marL="457200" rtl="0" algn="l">
              <a:spcBef>
                <a:spcPts val="0"/>
              </a:spcBef>
              <a:spcAft>
                <a:spcPts val="0"/>
              </a:spcAft>
              <a:buClr>
                <a:srgbClr val="000000"/>
              </a:buClr>
              <a:buSzPct val="100000"/>
              <a:buChar char="●"/>
            </a:pPr>
            <a:r>
              <a:rPr lang="en" sz="1244">
                <a:solidFill>
                  <a:srgbClr val="000000"/>
                </a:solidFill>
              </a:rPr>
              <a:t>Time; older anomalies given higher priority</a:t>
            </a:r>
            <a:endParaRPr sz="1244">
              <a:solidFill>
                <a:srgbClr val="000000"/>
              </a:solidFill>
            </a:endParaRPr>
          </a:p>
          <a:p>
            <a:pPr indent="-301641" lvl="0" marL="457200" rtl="0" algn="l">
              <a:spcBef>
                <a:spcPts val="0"/>
              </a:spcBef>
              <a:spcAft>
                <a:spcPts val="0"/>
              </a:spcAft>
              <a:buClr>
                <a:srgbClr val="000000"/>
              </a:buClr>
              <a:buSzPct val="100000"/>
              <a:buChar char="●"/>
            </a:pPr>
            <a:r>
              <a:rPr lang="en" sz="1244">
                <a:solidFill>
                  <a:srgbClr val="000000"/>
                </a:solidFill>
              </a:rPr>
              <a:t>Severity - </a:t>
            </a:r>
            <a:r>
              <a:rPr lang="en" sz="1050">
                <a:solidFill>
                  <a:srgbClr val="CE9178"/>
                </a:solidFill>
                <a:highlight>
                  <a:srgbClr val="1F1F1F"/>
                </a:highlight>
                <a:latin typeface="Courier New"/>
                <a:ea typeface="Courier New"/>
                <a:cs typeface="Courier New"/>
                <a:sym typeface="Courier New"/>
              </a:rPr>
              <a:t>"CRITICAL"</a:t>
            </a:r>
            <a:r>
              <a:rPr lang="en" sz="1050">
                <a:solidFill>
                  <a:srgbClr val="CCCCCC"/>
                </a:solidFill>
                <a:highlight>
                  <a:srgbClr val="1F1F1F"/>
                </a:highlight>
                <a:latin typeface="Courier New"/>
                <a:ea typeface="Courier New"/>
                <a:cs typeface="Courier New"/>
                <a:sym typeface="Courier New"/>
              </a:rPr>
              <a:t>: </a:t>
            </a:r>
            <a:r>
              <a:rPr lang="en" sz="1050">
                <a:solidFill>
                  <a:srgbClr val="B5CEA8"/>
                </a:solidFill>
                <a:highlight>
                  <a:srgbClr val="1F1F1F"/>
                </a:highlight>
                <a:latin typeface="Courier New"/>
                <a:ea typeface="Courier New"/>
                <a:cs typeface="Courier New"/>
                <a:sym typeface="Courier New"/>
              </a:rPr>
              <a:t>3</a:t>
            </a:r>
            <a:r>
              <a:rPr lang="en" sz="1050">
                <a:solidFill>
                  <a:srgbClr val="CCCCCC"/>
                </a:solidFill>
                <a:highlight>
                  <a:srgbClr val="1F1F1F"/>
                </a:highlight>
                <a:latin typeface="Courier New"/>
                <a:ea typeface="Courier New"/>
                <a:cs typeface="Courier New"/>
                <a:sym typeface="Courier New"/>
              </a:rPr>
              <a:t>, </a:t>
            </a:r>
            <a:r>
              <a:rPr lang="en" sz="1050">
                <a:solidFill>
                  <a:srgbClr val="CE9178"/>
                </a:solidFill>
                <a:highlight>
                  <a:srgbClr val="1F1F1F"/>
                </a:highlight>
                <a:latin typeface="Courier New"/>
                <a:ea typeface="Courier New"/>
                <a:cs typeface="Courier New"/>
                <a:sym typeface="Courier New"/>
              </a:rPr>
              <a:t>"HIGH"</a:t>
            </a:r>
            <a:r>
              <a:rPr lang="en" sz="1050">
                <a:solidFill>
                  <a:srgbClr val="CCCCCC"/>
                </a:solidFill>
                <a:highlight>
                  <a:srgbClr val="1F1F1F"/>
                </a:highlight>
                <a:latin typeface="Courier New"/>
                <a:ea typeface="Courier New"/>
                <a:cs typeface="Courier New"/>
                <a:sym typeface="Courier New"/>
              </a:rPr>
              <a:t>: </a:t>
            </a:r>
            <a:r>
              <a:rPr lang="en" sz="1050">
                <a:solidFill>
                  <a:srgbClr val="B5CEA8"/>
                </a:solidFill>
                <a:highlight>
                  <a:srgbClr val="1F1F1F"/>
                </a:highlight>
                <a:latin typeface="Courier New"/>
                <a:ea typeface="Courier New"/>
                <a:cs typeface="Courier New"/>
                <a:sym typeface="Courier New"/>
              </a:rPr>
              <a:t>2</a:t>
            </a:r>
            <a:r>
              <a:rPr lang="en" sz="1050">
                <a:solidFill>
                  <a:srgbClr val="CCCCCC"/>
                </a:solidFill>
                <a:highlight>
                  <a:srgbClr val="1F1F1F"/>
                </a:highlight>
                <a:latin typeface="Courier New"/>
                <a:ea typeface="Courier New"/>
                <a:cs typeface="Courier New"/>
                <a:sym typeface="Courier New"/>
              </a:rPr>
              <a:t>, </a:t>
            </a:r>
            <a:r>
              <a:rPr lang="en" sz="1050">
                <a:solidFill>
                  <a:srgbClr val="CE9178"/>
                </a:solidFill>
                <a:highlight>
                  <a:srgbClr val="1F1F1F"/>
                </a:highlight>
                <a:latin typeface="Courier New"/>
                <a:ea typeface="Courier New"/>
                <a:cs typeface="Courier New"/>
                <a:sym typeface="Courier New"/>
              </a:rPr>
              <a:t>"MAJOR"</a:t>
            </a:r>
            <a:r>
              <a:rPr lang="en" sz="1050">
                <a:solidFill>
                  <a:srgbClr val="CCCCCC"/>
                </a:solidFill>
                <a:highlight>
                  <a:srgbClr val="1F1F1F"/>
                </a:highlight>
                <a:latin typeface="Courier New"/>
                <a:ea typeface="Courier New"/>
                <a:cs typeface="Courier New"/>
                <a:sym typeface="Courier New"/>
              </a:rPr>
              <a:t>:</a:t>
            </a:r>
            <a:r>
              <a:rPr lang="en" sz="1050">
                <a:solidFill>
                  <a:srgbClr val="B5CEA8"/>
                </a:solidFill>
                <a:highlight>
                  <a:srgbClr val="1F1F1F"/>
                </a:highlight>
                <a:latin typeface="Courier New"/>
                <a:ea typeface="Courier New"/>
                <a:cs typeface="Courier New"/>
                <a:sym typeface="Courier New"/>
              </a:rPr>
              <a:t>1</a:t>
            </a:r>
            <a:r>
              <a:rPr lang="en" sz="1050">
                <a:solidFill>
                  <a:srgbClr val="CCCCCC"/>
                </a:solidFill>
                <a:highlight>
                  <a:srgbClr val="1F1F1F"/>
                </a:highlight>
                <a:latin typeface="Courier New"/>
                <a:ea typeface="Courier New"/>
                <a:cs typeface="Courier New"/>
                <a:sym typeface="Courier New"/>
              </a:rPr>
              <a:t>, </a:t>
            </a:r>
            <a:r>
              <a:rPr lang="en" sz="1050">
                <a:solidFill>
                  <a:srgbClr val="CE9178"/>
                </a:solidFill>
                <a:highlight>
                  <a:srgbClr val="1F1F1F"/>
                </a:highlight>
                <a:latin typeface="Courier New"/>
                <a:ea typeface="Courier New"/>
                <a:cs typeface="Courier New"/>
                <a:sym typeface="Courier New"/>
              </a:rPr>
              <a:t>"WARNING"</a:t>
            </a:r>
            <a:r>
              <a:rPr lang="en" sz="1050">
                <a:solidFill>
                  <a:srgbClr val="CCCCCC"/>
                </a:solidFill>
                <a:highlight>
                  <a:srgbClr val="1F1F1F"/>
                </a:highlight>
                <a:latin typeface="Courier New"/>
                <a:ea typeface="Courier New"/>
                <a:cs typeface="Courier New"/>
                <a:sym typeface="Courier New"/>
              </a:rPr>
              <a:t>: </a:t>
            </a:r>
            <a:r>
              <a:rPr lang="en" sz="1050">
                <a:solidFill>
                  <a:srgbClr val="B5CEA8"/>
                </a:solidFill>
                <a:highlight>
                  <a:srgbClr val="1F1F1F"/>
                </a:highlight>
                <a:latin typeface="Courier New"/>
                <a:ea typeface="Courier New"/>
                <a:cs typeface="Courier New"/>
                <a:sym typeface="Courier New"/>
              </a:rPr>
              <a:t>0</a:t>
            </a:r>
            <a:endParaRPr sz="1244">
              <a:solidFill>
                <a:srgbClr val="000000"/>
              </a:solidFill>
            </a:endParaRPr>
          </a:p>
          <a:p>
            <a:pPr indent="-301641" lvl="0" marL="457200" rtl="0" algn="l">
              <a:spcBef>
                <a:spcPts val="0"/>
              </a:spcBef>
              <a:spcAft>
                <a:spcPts val="0"/>
              </a:spcAft>
              <a:buClr>
                <a:srgbClr val="000000"/>
              </a:buClr>
              <a:buSzPct val="100000"/>
              <a:buChar char="●"/>
            </a:pPr>
            <a:r>
              <a:rPr lang="en" sz="1244">
                <a:solidFill>
                  <a:srgbClr val="000000"/>
                </a:solidFill>
              </a:rPr>
              <a:t>Whether a transaction is in progress</a:t>
            </a:r>
            <a:endParaRPr sz="1244">
              <a:solidFill>
                <a:srgbClr val="000000"/>
              </a:solidFill>
            </a:endParaRPr>
          </a:p>
          <a:p>
            <a:pPr indent="0" lvl="0" marL="0" rtl="0" algn="l">
              <a:spcBef>
                <a:spcPts val="1200"/>
              </a:spcBef>
              <a:spcAft>
                <a:spcPts val="1200"/>
              </a:spcAft>
              <a:buNone/>
            </a:pPr>
            <a:r>
              <a:t/>
            </a:r>
            <a:endParaRPr/>
          </a:p>
        </p:txBody>
      </p:sp>
      <p:cxnSp>
        <p:nvCxnSpPr>
          <p:cNvPr id="102" name="Google Shape;102;p19"/>
          <p:cNvCxnSpPr/>
          <p:nvPr/>
        </p:nvCxnSpPr>
        <p:spPr>
          <a:xfrm>
            <a:off x="4447100" y="2968700"/>
            <a:ext cx="2400" cy="13614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Further </a:t>
            </a:r>
            <a:r>
              <a:rPr lang="en"/>
              <a:t>Notable</a:t>
            </a:r>
            <a:r>
              <a:rPr lang="en"/>
              <a:t> Backend</a:t>
            </a:r>
            <a:endParaRPr/>
          </a:p>
        </p:txBody>
      </p:sp>
      <p:sp>
        <p:nvSpPr>
          <p:cNvPr id="108" name="Google Shape;108;p20"/>
          <p:cNvSpPr txBox="1"/>
          <p:nvPr>
            <p:ph idx="1" type="body"/>
          </p:nvPr>
        </p:nvSpPr>
        <p:spPr>
          <a:xfrm>
            <a:off x="932050" y="1371425"/>
            <a:ext cx="7120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retention duration can be configured. REST endpoints let admins both configure how long data is kept (up to 365 days) and perform manual cleanup. APScheduler job that runs every </a:t>
            </a:r>
            <a:r>
              <a:rPr lang="en"/>
              <a:t>hour.</a:t>
            </a:r>
            <a:endParaRPr/>
          </a:p>
          <a:p>
            <a:pPr indent="0" lvl="0" marL="0" rtl="0" algn="l">
              <a:spcBef>
                <a:spcPts val="1200"/>
              </a:spcBef>
              <a:spcAft>
                <a:spcPts val="0"/>
              </a:spcAft>
              <a:buNone/>
            </a:pPr>
            <a:r>
              <a:rPr lang="en"/>
              <a:t>Authorisation with JWT-based login with admin and user roles. all endpoints are properly guarded.</a:t>
            </a:r>
            <a:endParaRPr/>
          </a:p>
          <a:p>
            <a:pPr indent="0" lvl="0" marL="0" rtl="0" algn="l">
              <a:spcBef>
                <a:spcPts val="1200"/>
              </a:spcBef>
              <a:spcAft>
                <a:spcPts val="0"/>
              </a:spcAft>
              <a:buNone/>
            </a:pPr>
            <a:r>
              <a:rPr lang="en"/>
              <a:t>39 passing tests covering end-to-end: parsers, DB schema, concurrent writes, auth, analysis and all the main API endpoints</a:t>
            </a:r>
            <a:endParaRPr/>
          </a:p>
          <a:p>
            <a:pPr indent="0" lvl="0" marL="45720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253475"/>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Display / Frontend</a:t>
            </a:r>
            <a:endParaRPr/>
          </a:p>
        </p:txBody>
      </p:sp>
      <p:sp>
        <p:nvSpPr>
          <p:cNvPr id="114" name="Google Shape;114;p21"/>
          <p:cNvSpPr txBox="1"/>
          <p:nvPr>
            <p:ph idx="1" type="body"/>
          </p:nvPr>
        </p:nvSpPr>
        <p:spPr>
          <a:xfrm>
            <a:off x="311700" y="949875"/>
            <a:ext cx="2808000" cy="197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Due to our team’s limited experience with frontend technologies, we decided to keep the UI simple, showing only the most </a:t>
            </a:r>
            <a:r>
              <a:rPr lang="en"/>
              <a:t>important</a:t>
            </a:r>
            <a:r>
              <a:rPr lang="en"/>
              <a:t> information.</a:t>
            </a:r>
            <a:endParaRPr/>
          </a:p>
          <a:p>
            <a:pPr indent="0" lvl="0" marL="0" rtl="0" algn="l">
              <a:lnSpc>
                <a:spcPct val="100000"/>
              </a:lnSpc>
              <a:spcBef>
                <a:spcPts val="1200"/>
              </a:spcBef>
              <a:spcAft>
                <a:spcPts val="0"/>
              </a:spcAft>
              <a:buNone/>
            </a:pPr>
            <a:r>
              <a:rPr lang="en"/>
              <a:t>We decided on a list containing high-level information about anomalies detected.</a:t>
            </a:r>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
        <p:nvSpPr>
          <p:cNvPr id="115" name="Google Shape;115;p21"/>
          <p:cNvSpPr txBox="1"/>
          <p:nvPr/>
        </p:nvSpPr>
        <p:spPr>
          <a:xfrm>
            <a:off x="2149250" y="3001200"/>
            <a:ext cx="2808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rPr>
              <a:t>We also </a:t>
            </a:r>
            <a:r>
              <a:rPr lang="en" sz="1200">
                <a:solidFill>
                  <a:schemeClr val="lt2"/>
                </a:solidFill>
              </a:rPr>
              <a:t>provided a page for detailed information about anomalies, showing their root cause, operational impact and recommended action.</a:t>
            </a:r>
            <a:br>
              <a:rPr lang="en" sz="1200">
                <a:solidFill>
                  <a:schemeClr val="lt2"/>
                </a:solidFill>
              </a:rPr>
            </a:br>
            <a:endParaRPr sz="1200">
              <a:solidFill>
                <a:schemeClr val="lt2"/>
              </a:solidFill>
            </a:endParaRPr>
          </a:p>
        </p:txBody>
      </p:sp>
      <p:pic>
        <p:nvPicPr>
          <p:cNvPr id="116" name="Google Shape;116;p21"/>
          <p:cNvPicPr preferRelativeResize="0"/>
          <p:nvPr/>
        </p:nvPicPr>
        <p:blipFill>
          <a:blip r:embed="rId3">
            <a:alphaModFix/>
          </a:blip>
          <a:stretch>
            <a:fillRect/>
          </a:stretch>
        </p:blipFill>
        <p:spPr>
          <a:xfrm>
            <a:off x="3272100" y="152400"/>
            <a:ext cx="5679904" cy="2696401"/>
          </a:xfrm>
          <a:prstGeom prst="rect">
            <a:avLst/>
          </a:prstGeom>
          <a:noFill/>
          <a:ln>
            <a:noFill/>
          </a:ln>
        </p:spPr>
      </p:pic>
      <p:pic>
        <p:nvPicPr>
          <p:cNvPr id="117" name="Google Shape;117;p21"/>
          <p:cNvPicPr preferRelativeResize="0"/>
          <p:nvPr/>
        </p:nvPicPr>
        <p:blipFill>
          <a:blip r:embed="rId4">
            <a:alphaModFix/>
          </a:blip>
          <a:stretch>
            <a:fillRect/>
          </a:stretch>
        </p:blipFill>
        <p:spPr>
          <a:xfrm>
            <a:off x="5109650" y="3001201"/>
            <a:ext cx="3560413" cy="1989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13" y="496150"/>
            <a:ext cx="8520600" cy="1890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DEMO</a:t>
            </a:r>
            <a:endParaRPr/>
          </a:p>
        </p:txBody>
      </p:sp>
      <p:pic>
        <p:nvPicPr>
          <p:cNvPr id="123" name="Google Shape;123;p22" title="industrialteamprojectdemo.mp4">
            <a:hlinkClick r:id="rId3"/>
          </p:cNvPr>
          <p:cNvPicPr preferRelativeResize="0"/>
          <p:nvPr/>
        </p:nvPicPr>
        <p:blipFill>
          <a:blip r:embed="rId4">
            <a:alphaModFix/>
          </a:blip>
          <a:stretch>
            <a:fillRect/>
          </a:stretch>
        </p:blipFill>
        <p:spPr>
          <a:xfrm>
            <a:off x="2121575" y="2386750"/>
            <a:ext cx="4900877" cy="2756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1000"/>
                                        <p:tgtEl>
                                          <p:spTgt spid="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37900" y="603125"/>
            <a:ext cx="4101900" cy="79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020"/>
              <a:t>Problems brought up by Evaluation</a:t>
            </a:r>
            <a:endParaRPr sz="3020"/>
          </a:p>
          <a:p>
            <a:pPr indent="0" lvl="0" marL="0" rtl="0" algn="l">
              <a:spcBef>
                <a:spcPts val="0"/>
              </a:spcBef>
              <a:spcAft>
                <a:spcPts val="0"/>
              </a:spcAft>
              <a:buSzPts val="990"/>
              <a:buNone/>
            </a:pPr>
            <a:r>
              <a:t/>
            </a:r>
            <a:endParaRPr sz="4320"/>
          </a:p>
        </p:txBody>
      </p:sp>
      <p:sp>
        <p:nvSpPr>
          <p:cNvPr id="129" name="Google Shape;129;p23"/>
          <p:cNvSpPr txBox="1"/>
          <p:nvPr/>
        </p:nvSpPr>
        <p:spPr>
          <a:xfrm>
            <a:off x="473650" y="1308575"/>
            <a:ext cx="3830400" cy="7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3 Undergraduates: 2 Computer Science and 1 Business</a:t>
            </a:r>
            <a:endParaRPr sz="1800">
              <a:solidFill>
                <a:schemeClr val="lt2"/>
              </a:solidFill>
            </a:endParaRPr>
          </a:p>
        </p:txBody>
      </p:sp>
      <p:sp>
        <p:nvSpPr>
          <p:cNvPr id="130" name="Google Shape;130;p23"/>
          <p:cNvSpPr txBox="1"/>
          <p:nvPr/>
        </p:nvSpPr>
        <p:spPr>
          <a:xfrm>
            <a:off x="245050" y="2294950"/>
            <a:ext cx="4287600" cy="2662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Char char="-"/>
            </a:pPr>
            <a:r>
              <a:rPr lang="en" sz="1800">
                <a:solidFill>
                  <a:schemeClr val="lt2"/>
                </a:solidFill>
              </a:rPr>
              <a:t>One participant acknowledged a lack of password </a:t>
            </a:r>
            <a:r>
              <a:rPr lang="en" sz="1800">
                <a:solidFill>
                  <a:schemeClr val="lt2"/>
                </a:solidFill>
              </a:rPr>
              <a:t>policy</a:t>
            </a:r>
            <a:r>
              <a:rPr lang="en" sz="1800">
                <a:solidFill>
                  <a:schemeClr val="lt2"/>
                </a:solidFill>
              </a:rPr>
              <a:t>. Most acknowledged the system would benefit from further security features like Multi-Factor Authentication or one time passwords.</a:t>
            </a:r>
            <a:endParaRPr sz="1800">
              <a:solidFill>
                <a:schemeClr val="lt2"/>
              </a:solidFill>
            </a:endParaRPr>
          </a:p>
        </p:txBody>
      </p:sp>
      <p:sp>
        <p:nvSpPr>
          <p:cNvPr id="131" name="Google Shape;131;p23"/>
          <p:cNvSpPr txBox="1"/>
          <p:nvPr/>
        </p:nvSpPr>
        <p:spPr>
          <a:xfrm>
            <a:off x="4572000" y="1116125"/>
            <a:ext cx="4229400" cy="462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One user noted that the logo gave a false impression that it could be used as a home button. They also noted the lack of a back button.</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None of the users noticed the anomaly filtering functionality.</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One user noted that timestamps of anomalies</a:t>
            </a:r>
            <a:r>
              <a:rPr lang="en" sz="1800">
                <a:solidFill>
                  <a:schemeClr val="lt2"/>
                </a:solidFill>
              </a:rPr>
              <a:t> should be involved in analysis ranking.</a:t>
            </a:r>
            <a:r>
              <a:rPr lang="en" sz="1800">
                <a:solidFill>
                  <a:schemeClr val="lt2"/>
                </a:solidFill>
              </a:rPr>
              <a:t> </a:t>
            </a:r>
            <a:endParaRPr sz="1800">
              <a:solidFill>
                <a:schemeClr val="lt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113025" y="115775"/>
            <a:ext cx="4290600" cy="1146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Post-Evaluation</a:t>
            </a:r>
            <a:endParaRPr/>
          </a:p>
        </p:txBody>
      </p:sp>
      <p:sp>
        <p:nvSpPr>
          <p:cNvPr id="137" name="Google Shape;137;p24"/>
          <p:cNvSpPr txBox="1"/>
          <p:nvPr/>
        </p:nvSpPr>
        <p:spPr>
          <a:xfrm>
            <a:off x="347625" y="1128700"/>
            <a:ext cx="4113300" cy="311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Overall feedback was good. Usability and navigation beyond filtering and back buttons was well </a:t>
            </a:r>
            <a:r>
              <a:rPr lang="en" sz="1800">
                <a:solidFill>
                  <a:schemeClr val="lt2"/>
                </a:solidFill>
              </a:rPr>
              <a:t>received. N</a:t>
            </a:r>
            <a:r>
              <a:rPr lang="en" sz="1800">
                <a:solidFill>
                  <a:schemeClr val="lt2"/>
                </a:solidFill>
              </a:rPr>
              <a:t>o confusion </a:t>
            </a:r>
            <a:r>
              <a:rPr lang="en" sz="1800">
                <a:solidFill>
                  <a:schemeClr val="lt2"/>
                </a:solidFill>
              </a:rPr>
              <a:t>arose at anomaly or analysis information or the way it was presented. </a:t>
            </a:r>
            <a:endParaRPr sz="1800">
              <a:solidFill>
                <a:schemeClr val="lt2"/>
              </a:solidFill>
            </a:endParaRPr>
          </a:p>
          <a:p>
            <a:pPr indent="0" lvl="0" marL="0" rtl="0" algn="l">
              <a:spcBef>
                <a:spcPts val="0"/>
              </a:spcBef>
              <a:spcAft>
                <a:spcPts val="0"/>
              </a:spcAft>
              <a:buNone/>
            </a:pPr>
            <a:r>
              <a:t/>
            </a:r>
            <a:endParaRPr sz="1800">
              <a:solidFill>
                <a:schemeClr val="lt2"/>
              </a:solidFill>
            </a:endParaRPr>
          </a:p>
          <a:p>
            <a:pPr indent="0" lvl="0" marL="0" rtl="0" algn="l">
              <a:spcBef>
                <a:spcPts val="0"/>
              </a:spcBef>
              <a:spcAft>
                <a:spcPts val="0"/>
              </a:spcAft>
              <a:buNone/>
            </a:pPr>
            <a:r>
              <a:rPr lang="en" sz="1800">
                <a:solidFill>
                  <a:schemeClr val="lt2"/>
                </a:solidFill>
              </a:rPr>
              <a:t>One interesting note was one participant commenting on how they didn’t understand the information within the analysis, but understood that relevant engineers likely would, which falls well into our Manager user story.</a:t>
            </a:r>
            <a:endParaRPr sz="1800">
              <a:solidFill>
                <a:schemeClr val="lt2"/>
              </a:solidFill>
            </a:endParaRPr>
          </a:p>
        </p:txBody>
      </p:sp>
      <p:sp>
        <p:nvSpPr>
          <p:cNvPr id="138" name="Google Shape;138;p24"/>
          <p:cNvSpPr txBox="1"/>
          <p:nvPr/>
        </p:nvSpPr>
        <p:spPr>
          <a:xfrm>
            <a:off x="4831550" y="442525"/>
            <a:ext cx="3808800" cy="42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Implemented feedback:</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Got rid of logo</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Added back buttons</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Addition of password policy (minimum 6 characters)</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Moved anomaly filtering to be more </a:t>
            </a:r>
            <a:r>
              <a:rPr lang="en" sz="1800">
                <a:solidFill>
                  <a:schemeClr val="lt2"/>
                </a:solidFill>
              </a:rPr>
              <a:t>noticeable</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Added time-based ranking to analysis</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Can remove an anomaly from “completed” status</a:t>
            </a:r>
            <a:endParaRPr sz="1800">
              <a:solidFill>
                <a:schemeClr val="lt2"/>
              </a:solidFill>
            </a:endParaRPr>
          </a:p>
          <a:p>
            <a:pPr indent="0" lvl="0" marL="0" rtl="0" algn="l">
              <a:spcBef>
                <a:spcPts val="0"/>
              </a:spcBef>
              <a:spcAft>
                <a:spcPts val="0"/>
              </a:spcAft>
              <a:buNone/>
            </a:pPr>
            <a:r>
              <a:t/>
            </a:r>
            <a:endParaRPr sz="1800">
              <a:solidFill>
                <a:schemeClr val="lt2"/>
              </a:solidFill>
            </a:endParaRPr>
          </a:p>
          <a:p>
            <a:pPr indent="0" lvl="0" marL="0" rtl="0" algn="l">
              <a:spcBef>
                <a:spcPts val="0"/>
              </a:spcBef>
              <a:spcAft>
                <a:spcPts val="0"/>
              </a:spcAft>
              <a:buNone/>
            </a:pPr>
            <a:r>
              <a:t/>
            </a:r>
            <a:endParaRPr sz="1800">
              <a:solidFill>
                <a:schemeClr val="lt2"/>
              </a:solidFill>
            </a:endParaRPr>
          </a:p>
          <a:p>
            <a:pPr indent="0" lvl="0" marL="0" rtl="0" algn="l">
              <a:spcBef>
                <a:spcPts val="0"/>
              </a:spcBef>
              <a:spcAft>
                <a:spcPts val="0"/>
              </a:spcAft>
              <a:buNone/>
            </a:pPr>
            <a:r>
              <a:t/>
            </a:r>
            <a:endParaRPr sz="1800">
              <a:solidFill>
                <a:schemeClr val="l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490250" y="450150"/>
            <a:ext cx="6367800" cy="96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Next Steps</a:t>
            </a:r>
            <a:endParaRPr/>
          </a:p>
        </p:txBody>
      </p:sp>
      <p:sp>
        <p:nvSpPr>
          <p:cNvPr id="144" name="Google Shape;144;p25"/>
          <p:cNvSpPr txBox="1"/>
          <p:nvPr/>
        </p:nvSpPr>
        <p:spPr>
          <a:xfrm>
            <a:off x="490250" y="1287500"/>
            <a:ext cx="62634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2"/>
                </a:solidFill>
              </a:rPr>
              <a:t>Looking forward, there are a few features we would add:</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One of these is making starring user-based, instead of global.</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Another feature we would add would be to have predictive detection, using AI and pattern recognition to detect when anomalies could appear in the future.</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A further feature would be to allow real-time log ingestion, detecting anomalies as soon as they occur.</a:t>
            </a:r>
            <a:endParaRPr sz="1800">
              <a:solidFill>
                <a:schemeClr val="lt2"/>
              </a:solidFill>
            </a:endParaRPr>
          </a:p>
          <a:p>
            <a:pPr indent="-342900" lvl="0" marL="457200" rtl="0" algn="l">
              <a:spcBef>
                <a:spcPts val="0"/>
              </a:spcBef>
              <a:spcAft>
                <a:spcPts val="0"/>
              </a:spcAft>
              <a:buClr>
                <a:schemeClr val="lt2"/>
              </a:buClr>
              <a:buSzPts val="1800"/>
              <a:buChar char="-"/>
            </a:pPr>
            <a:r>
              <a:rPr lang="en" sz="1800">
                <a:solidFill>
                  <a:schemeClr val="lt2"/>
                </a:solidFill>
              </a:rPr>
              <a:t>We could also make the software less specific for ATMs, allowing any logging to be processed by the system.</a:t>
            </a:r>
            <a:endParaRPr sz="1800">
              <a:solidFill>
                <a:schemeClr val="lt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406625" y="358850"/>
            <a:ext cx="63678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Summary</a:t>
            </a:r>
            <a:endParaRPr sz="4800"/>
          </a:p>
        </p:txBody>
      </p:sp>
      <p:sp>
        <p:nvSpPr>
          <p:cNvPr id="150" name="Google Shape;150;p26"/>
          <p:cNvSpPr txBox="1"/>
          <p:nvPr/>
        </p:nvSpPr>
        <p:spPr>
          <a:xfrm>
            <a:off x="567525" y="1755600"/>
            <a:ext cx="7747800" cy="31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lt2"/>
                </a:solidFill>
              </a:rPr>
              <a:t>We believe we’ve met all the requirements, implementing log ingestion, anomaly detection, analysis and a visual interface to display this information.</a:t>
            </a:r>
            <a:endParaRPr sz="1900">
              <a:solidFill>
                <a:schemeClr val="lt2"/>
              </a:solidFill>
            </a:endParaRPr>
          </a:p>
          <a:p>
            <a:pPr indent="0" lvl="0" marL="0" rtl="0" algn="l">
              <a:spcBef>
                <a:spcPts val="0"/>
              </a:spcBef>
              <a:spcAft>
                <a:spcPts val="0"/>
              </a:spcAft>
              <a:buNone/>
            </a:pPr>
            <a:r>
              <a:rPr lang="en" sz="1900">
                <a:solidFill>
                  <a:schemeClr val="lt2"/>
                </a:solidFill>
              </a:rPr>
              <a:t>Furthermore, we implemented some additional features such as custom data retention length, anomaly display filtering, and admin and user permissions, and data access.</a:t>
            </a:r>
            <a:endParaRPr sz="1900">
              <a:solidFill>
                <a:schemeClr val="l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3000"/>
              <a:t>Thanks!</a:t>
            </a:r>
            <a:endParaRPr sz="3000"/>
          </a:p>
        </p:txBody>
      </p:sp>
      <p:sp>
        <p:nvSpPr>
          <p:cNvPr id="156" name="Google Shape;156;p2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